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74" r:id="rId4"/>
    <p:sldId id="273" r:id="rId5"/>
    <p:sldId id="275" r:id="rId6"/>
    <p:sldId id="258" r:id="rId7"/>
    <p:sldId id="259" r:id="rId8"/>
    <p:sldId id="270" r:id="rId9"/>
    <p:sldId id="268" r:id="rId10"/>
    <p:sldId id="263" r:id="rId11"/>
    <p:sldId id="260" r:id="rId12"/>
    <p:sldId id="261" r:id="rId13"/>
    <p:sldId id="262" r:id="rId14"/>
    <p:sldId id="264" r:id="rId15"/>
    <p:sldId id="265" r:id="rId16"/>
    <p:sldId id="271" r:id="rId17"/>
  </p:sldIdLst>
  <p:sldSz cx="14630400" cy="8229600"/>
  <p:notesSz cx="8229600" cy="14630400"/>
  <p:embeddedFontLst>
    <p:embeddedFont>
      <p:font typeface="Fira Sans"/>
      <p:regular r:id="rId19"/>
    </p:embeddedFont>
    <p:embeddedFont>
      <p:font typeface="Franklin Gothic Heavy" panose="020B0903020102020204" pitchFamily="34" charset="0"/>
      <p:regular r:id="rId20"/>
      <p:italic r:id="rId21"/>
    </p:embeddedFont>
    <p:embeddedFont>
      <p:font typeface="Rockwell" panose="02060603020205020403" pitchFamily="18" charset="0"/>
      <p:regular r:id="rId22"/>
      <p:bold r:id="rId23"/>
      <p:italic r:id="rId24"/>
      <p:boldItalic r:id="rId25"/>
    </p:embeddedFont>
    <p:embeddedFont>
      <p:font typeface="Calibri" panose="020F0502020204030204" pitchFamily="34" charset="0"/>
      <p:regular r:id="rId26"/>
      <p:bold r:id="rId27"/>
      <p:italic r:id="rId28"/>
      <p:boldItalic r:id="rId29"/>
    </p:embeddedFont>
    <p:embeddedFont>
      <p:font typeface="Arial Black" panose="020B0A04020102020204" pitchFamily="34" charset="0"/>
      <p:bold r:id="rId30"/>
    </p:embeddedFont>
  </p:embeddedFontLst>
  <p:defaultTextStyle>
    <a:defPPr>
      <a:defRPr lang="ca-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2">
          <p15:clr>
            <a:srgbClr val="A4A3A4"/>
          </p15:clr>
        </p15:guide>
        <p15:guide id="2" pos="460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101" y="149"/>
      </p:cViewPr>
      <p:guideLst>
        <p:guide orient="horz" pos="2592"/>
        <p:guide pos="46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3134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0" y="1096963"/>
            <a:ext cx="9753600" cy="5486400"/>
          </a:xfrm>
          <a:prstGeom prst="rect">
            <a:avLst/>
          </a:prstGeom>
        </p:spPr>
      </p:sp>
      <p:sp>
        <p:nvSpPr>
          <p:cNvPr id="3" name="Notes Placeholder 2"/>
          <p:cNvSpPr>
            <a:spLocks noGrp="1"/>
          </p:cNvSpPr>
          <p:nvPr>
            <p:ph type="body" idx="1"/>
          </p:nvPr>
        </p:nvSpPr>
        <p:spPr>
          <a:xfrm>
            <a:off x="822325" y="6950075"/>
            <a:ext cx="6584950" cy="6583363"/>
          </a:xfrm>
          <a:prstGeom prst="rect">
            <a:avLst/>
          </a:prstGeom>
        </p:spPr>
        <p:txBody>
          <a:bodyPr/>
          <a:lstStyle/>
          <a:p>
            <a:endParaRPr lang="en-US" dirty="0"/>
          </a:p>
        </p:txBody>
      </p:sp>
      <p:sp>
        <p:nvSpPr>
          <p:cNvPr id="4" name="Slide Number Placeholder 3"/>
          <p:cNvSpPr>
            <a:spLocks noGrp="1"/>
          </p:cNvSpPr>
          <p:nvPr>
            <p:ph type="sldNum" sz="quarter" idx="10"/>
          </p:nvPr>
        </p:nvSpPr>
        <p:spPr>
          <a:xfrm>
            <a:off x="4660900" y="13896975"/>
            <a:ext cx="3567113" cy="730250"/>
          </a:xfrm>
          <a:prstGeom prst="rect">
            <a:avLst/>
          </a:prstGeom>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0" y="1096963"/>
            <a:ext cx="9753600" cy="5486400"/>
          </a:xfrm>
          <a:prstGeom prst="rect">
            <a:avLst/>
          </a:prstGeom>
        </p:spPr>
      </p:sp>
      <p:sp>
        <p:nvSpPr>
          <p:cNvPr id="3" name="Notes Placeholder 2"/>
          <p:cNvSpPr>
            <a:spLocks noGrp="1"/>
          </p:cNvSpPr>
          <p:nvPr>
            <p:ph type="body" idx="1"/>
          </p:nvPr>
        </p:nvSpPr>
        <p:spPr>
          <a:xfrm>
            <a:off x="822325" y="6950075"/>
            <a:ext cx="6584950" cy="6583363"/>
          </a:xfrm>
          <a:prstGeom prst="rect">
            <a:avLst/>
          </a:prstGeom>
        </p:spPr>
        <p:txBody>
          <a:bodyPr/>
          <a:lstStyle/>
          <a:p>
            <a:endParaRPr lang="en-US" dirty="0"/>
          </a:p>
        </p:txBody>
      </p:sp>
      <p:sp>
        <p:nvSpPr>
          <p:cNvPr id="4" name="Slide Number Placeholder 3"/>
          <p:cNvSpPr>
            <a:spLocks noGrp="1"/>
          </p:cNvSpPr>
          <p:nvPr>
            <p:ph type="sldNum" sz="quarter" idx="10"/>
          </p:nvPr>
        </p:nvSpPr>
        <p:spPr>
          <a:xfrm>
            <a:off x="4660900" y="13896975"/>
            <a:ext cx="3567113" cy="730250"/>
          </a:xfrm>
          <a:prstGeom prst="rect">
            <a:avLst/>
          </a:prstGeom>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0" y="1096963"/>
            <a:ext cx="9753600" cy="5486400"/>
          </a:xfrm>
          <a:prstGeom prst="rect">
            <a:avLst/>
          </a:prstGeom>
        </p:spPr>
      </p:sp>
      <p:sp>
        <p:nvSpPr>
          <p:cNvPr id="3" name="Notes Placeholder 2"/>
          <p:cNvSpPr>
            <a:spLocks noGrp="1"/>
          </p:cNvSpPr>
          <p:nvPr>
            <p:ph type="body" idx="1"/>
          </p:nvPr>
        </p:nvSpPr>
        <p:spPr>
          <a:xfrm>
            <a:off x="822325" y="6950075"/>
            <a:ext cx="6584950" cy="6583363"/>
          </a:xfrm>
          <a:prstGeom prst="rect">
            <a:avLst/>
          </a:prstGeom>
        </p:spPr>
        <p:txBody>
          <a:bodyPr/>
          <a:lstStyle/>
          <a:p>
            <a:endParaRPr lang="en-US" dirty="0"/>
          </a:p>
        </p:txBody>
      </p:sp>
      <p:sp>
        <p:nvSpPr>
          <p:cNvPr id="4" name="Slide Number Placeholder 3"/>
          <p:cNvSpPr>
            <a:spLocks noGrp="1"/>
          </p:cNvSpPr>
          <p:nvPr>
            <p:ph type="sldNum" sz="quarter" idx="10"/>
          </p:nvPr>
        </p:nvSpPr>
        <p:spPr>
          <a:xfrm>
            <a:off x="4660900" y="13896975"/>
            <a:ext cx="3567113" cy="730250"/>
          </a:xfrm>
          <a:prstGeom prst="rect">
            <a:avLst/>
          </a:prstGeom>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val="21007062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0" y="1096963"/>
            <a:ext cx="9753600" cy="5486400"/>
          </a:xfrm>
          <a:prstGeom prst="rect">
            <a:avLst/>
          </a:prstGeom>
        </p:spPr>
      </p:sp>
      <p:sp>
        <p:nvSpPr>
          <p:cNvPr id="3" name="Notes Placeholder 2"/>
          <p:cNvSpPr>
            <a:spLocks noGrp="1"/>
          </p:cNvSpPr>
          <p:nvPr>
            <p:ph type="body" idx="1"/>
          </p:nvPr>
        </p:nvSpPr>
        <p:spPr>
          <a:xfrm>
            <a:off x="822325" y="6950075"/>
            <a:ext cx="6584950" cy="6583363"/>
          </a:xfrm>
          <a:prstGeom prst="rect">
            <a:avLst/>
          </a:prstGeom>
        </p:spPr>
        <p:txBody>
          <a:bodyPr/>
          <a:lstStyle/>
          <a:p>
            <a:endParaRPr lang="en-US" dirty="0"/>
          </a:p>
        </p:txBody>
      </p:sp>
      <p:sp>
        <p:nvSpPr>
          <p:cNvPr id="4" name="Slide Number Placeholder 3"/>
          <p:cNvSpPr>
            <a:spLocks noGrp="1"/>
          </p:cNvSpPr>
          <p:nvPr>
            <p:ph type="sldNum" sz="quarter" idx="10"/>
          </p:nvPr>
        </p:nvSpPr>
        <p:spPr>
          <a:xfrm>
            <a:off x="4660900" y="13896975"/>
            <a:ext cx="3567113" cy="730250"/>
          </a:xfrm>
          <a:prstGeom prst="rect">
            <a:avLst/>
          </a:prstGeom>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762000" y="1096963"/>
            <a:ext cx="9753600" cy="5486400"/>
          </a:xfrm>
          <a:prstGeom prst="rect">
            <a:avLst/>
          </a:prstGeom>
          <a:noFill/>
          <a:ln w="12700">
            <a:solidFill>
              <a:prstClr val="black"/>
            </a:solidFill>
          </a:ln>
        </p:spPr>
      </p:sp>
      <p:sp>
        <p:nvSpPr>
          <p:cNvPr id="3" name="2 Marcador de notas"/>
          <p:cNvSpPr>
            <a:spLocks noGrp="1"/>
          </p:cNvSpPr>
          <p:nvPr>
            <p:ph type="body" idx="1"/>
          </p:nvPr>
        </p:nvSpPr>
        <p:spPr>
          <a:xfrm>
            <a:off x="822325" y="6950075"/>
            <a:ext cx="6584950" cy="6583363"/>
          </a:xfrm>
          <a:prstGeom prst="rect">
            <a:avLst/>
          </a:prstGeom>
        </p:spPr>
        <p:txBody>
          <a:bodyPr>
            <a:normAutofit/>
          </a:bodyPr>
          <a:lstStyle/>
          <a:p>
            <a:endParaRPr lang="es-E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762000" y="1096963"/>
            <a:ext cx="9753600" cy="5486400"/>
          </a:xfrm>
          <a:prstGeom prst="rect">
            <a:avLst/>
          </a:prstGeom>
          <a:noFill/>
          <a:ln w="12700">
            <a:solidFill>
              <a:prstClr val="black"/>
            </a:solidFill>
          </a:ln>
        </p:spPr>
      </p:sp>
      <p:sp>
        <p:nvSpPr>
          <p:cNvPr id="3" name="2 Marcador de notas"/>
          <p:cNvSpPr>
            <a:spLocks noGrp="1"/>
          </p:cNvSpPr>
          <p:nvPr>
            <p:ph type="body" idx="1"/>
          </p:nvPr>
        </p:nvSpPr>
        <p:spPr>
          <a:xfrm>
            <a:off x="822325" y="6950075"/>
            <a:ext cx="6584950" cy="6583363"/>
          </a:xfrm>
          <a:prstGeom prst="rect">
            <a:avLst/>
          </a:prstGeom>
        </p:spPr>
        <p:txBody>
          <a:bodyPr>
            <a:normAutofit/>
          </a:bodyPr>
          <a:lstStyle/>
          <a:p>
            <a:endParaRPr lang="es-E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userDrawn="1"/>
        </p:nvSpPr>
        <p:spPr>
          <a:xfrm>
            <a:off x="0" y="0"/>
            <a:ext cx="14630400" cy="8229600"/>
          </a:xfrm>
          <a:prstGeom prst="rect">
            <a:avLst/>
          </a:prstGeom>
          <a:solidFill>
            <a:srgbClr val="241631"/>
          </a:solidFill>
          <a:ln/>
        </p:spPr>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0.xml"/><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878631" y="1554829"/>
            <a:ext cx="7556421" cy="1417558"/>
          </a:xfrm>
          <a:prstGeom prst="rect">
            <a:avLst/>
          </a:prstGeom>
          <a:noFill/>
          <a:ln/>
        </p:spPr>
        <p:txBody>
          <a:bodyPr wrap="square" lIns="0" tIns="0" rIns="0" bIns="0" rtlCol="0" anchor="t"/>
          <a:lstStyle/>
          <a:p>
            <a:pPr>
              <a:lnSpc>
                <a:spcPts val="5550"/>
              </a:lnSpc>
            </a:pPr>
            <a:r>
              <a:rPr lang="en-US" sz="4450" b="1">
                <a:solidFill>
                  <a:srgbClr val="F94CAF"/>
                </a:solidFill>
                <a:latin typeface="Arial Black" panose="020B0A04020102020204" pitchFamily="34" charset="0"/>
                <a:ea typeface="Inconsolata Bold" pitchFamily="34" charset="-122"/>
                <a:cs typeface="Inconsolata Bold" pitchFamily="34" charset="-120"/>
              </a:rPr>
              <a:t>PITCH </a:t>
            </a:r>
            <a:r>
              <a:rPr lang="en-US" sz="4450" b="1" smtClean="0">
                <a:solidFill>
                  <a:srgbClr val="F94CAF"/>
                </a:solidFill>
                <a:latin typeface="Arial Black" panose="020B0A04020102020204" pitchFamily="34" charset="0"/>
                <a:ea typeface="Inconsolata Bold" pitchFamily="34" charset="-122"/>
                <a:cs typeface="Inconsolata Bold" pitchFamily="34" charset="-120"/>
              </a:rPr>
              <a:t>ELEVATOR</a:t>
            </a:r>
            <a:endParaRPr lang="en-US" sz="4450" b="1" dirty="0">
              <a:solidFill>
                <a:srgbClr val="F94CAF"/>
              </a:solidFill>
              <a:latin typeface="Arial Black" panose="020B0A04020102020204" pitchFamily="34" charset="0"/>
              <a:ea typeface="Inconsolata Bold" pitchFamily="34" charset="-122"/>
              <a:cs typeface="Inconsolata Bold" pitchFamily="34" charset="-120"/>
            </a:endParaRPr>
          </a:p>
          <a:p>
            <a:pPr marL="0" indent="0">
              <a:lnSpc>
                <a:spcPts val="5550"/>
              </a:lnSpc>
              <a:buNone/>
            </a:pPr>
            <a:r>
              <a:rPr lang="ca-ES" sz="4450" b="1" dirty="0" smtClean="0">
                <a:solidFill>
                  <a:schemeClr val="bg1"/>
                </a:solidFill>
                <a:latin typeface="Arial Black" panose="020B0A04020102020204" pitchFamily="34" charset="0"/>
                <a:ea typeface="Inconsolata Bold" pitchFamily="34" charset="-122"/>
                <a:cs typeface="Inconsolata Bold" pitchFamily="34" charset="-120"/>
              </a:rPr>
              <a:t>Presentació Projecte</a:t>
            </a:r>
            <a:endParaRPr lang="ca-ES" sz="4450" dirty="0">
              <a:solidFill>
                <a:schemeClr val="bg1"/>
              </a:solidFill>
              <a:latin typeface="Arial Black" panose="020B0A04020102020204" pitchFamily="34" charset="0"/>
            </a:endParaRPr>
          </a:p>
        </p:txBody>
      </p:sp>
      <p:sp>
        <p:nvSpPr>
          <p:cNvPr id="4" name="Text 1"/>
          <p:cNvSpPr/>
          <p:nvPr/>
        </p:nvSpPr>
        <p:spPr>
          <a:xfrm>
            <a:off x="793790" y="4123253"/>
            <a:ext cx="7556421" cy="1088708"/>
          </a:xfrm>
          <a:prstGeom prst="rect">
            <a:avLst/>
          </a:prstGeom>
          <a:noFill/>
          <a:ln/>
        </p:spPr>
        <p:txBody>
          <a:bodyPr wrap="square" lIns="0" tIns="0" rIns="0" bIns="0" rtlCol="0" anchor="t"/>
          <a:lstStyle/>
          <a:p>
            <a:pPr>
              <a:lnSpc>
                <a:spcPts val="2850"/>
              </a:lnSpc>
            </a:pPr>
            <a:r>
              <a:rPr lang="ca-ES" sz="1750" dirty="0" smtClean="0">
                <a:solidFill>
                  <a:srgbClr val="DAD1E6"/>
                </a:solidFill>
                <a:latin typeface="Arial Black" panose="020B0A04020102020204" pitchFamily="34" charset="0"/>
                <a:ea typeface="Fira Sans" pitchFamily="34" charset="-122"/>
                <a:cs typeface="Fira Sans" pitchFamily="34" charset="-120"/>
              </a:rPr>
              <a:t>Un pitch </a:t>
            </a:r>
            <a:r>
              <a:rPr lang="ca-ES" sz="1750" dirty="0" err="1" smtClean="0">
                <a:solidFill>
                  <a:srgbClr val="DAD1E6"/>
                </a:solidFill>
                <a:latin typeface="Arial Black" panose="020B0A04020102020204" pitchFamily="34" charset="0"/>
                <a:ea typeface="Fira Sans" pitchFamily="34" charset="-122"/>
                <a:cs typeface="Fira Sans" pitchFamily="34" charset="-120"/>
              </a:rPr>
              <a:t>elevator</a:t>
            </a:r>
            <a:r>
              <a:rPr lang="ca-ES" sz="1750" dirty="0" smtClean="0">
                <a:solidFill>
                  <a:srgbClr val="DAD1E6"/>
                </a:solidFill>
                <a:latin typeface="Arial Black" panose="020B0A04020102020204" pitchFamily="34" charset="0"/>
                <a:ea typeface="Fira Sans" pitchFamily="34" charset="-122"/>
                <a:cs typeface="Fira Sans" pitchFamily="34" charset="-120"/>
              </a:rPr>
              <a:t> és una breu presentació que té com a objectiu captar l’atenció i generar interès per una idea o projecte. </a:t>
            </a:r>
          </a:p>
          <a:p>
            <a:pPr>
              <a:lnSpc>
                <a:spcPts val="2850"/>
              </a:lnSpc>
            </a:pPr>
            <a:endParaRPr lang="ca-ES" sz="1750" dirty="0" smtClean="0">
              <a:solidFill>
                <a:srgbClr val="DAD1E6"/>
              </a:solidFill>
              <a:latin typeface="Arial Black" panose="020B0A04020102020204" pitchFamily="34" charset="0"/>
              <a:ea typeface="Fira Sans" pitchFamily="34" charset="-122"/>
              <a:cs typeface="Fira Sans" pitchFamily="34" charset="-120"/>
            </a:endParaRPr>
          </a:p>
          <a:p>
            <a:pPr>
              <a:lnSpc>
                <a:spcPts val="2500"/>
              </a:lnSpc>
            </a:pPr>
            <a:r>
              <a:rPr lang="ca-ES" sz="1750" dirty="0">
                <a:solidFill>
                  <a:srgbClr val="00B0F0"/>
                </a:solidFill>
                <a:latin typeface="Arial Black" panose="020B0A04020102020204" pitchFamily="34" charset="0"/>
                <a:ea typeface="Fira Sans" pitchFamily="34" charset="-122"/>
                <a:cs typeface="Fira Sans" pitchFamily="34" charset="-120"/>
              </a:rPr>
              <a:t>Es tracta de comunicar de manera clara, concisa i impactant el projecte, la solució proposada i el valor diferencial. </a:t>
            </a:r>
          </a:p>
        </p:txBody>
      </p:sp>
      <p:pic>
        <p:nvPicPr>
          <p:cNvPr id="2" name="Imatge 1"/>
          <p:cNvPicPr>
            <a:picLocks noChangeAspect="1"/>
          </p:cNvPicPr>
          <p:nvPr/>
        </p:nvPicPr>
        <p:blipFill>
          <a:blip r:embed="rId3"/>
          <a:stretch>
            <a:fillRect/>
          </a:stretch>
        </p:blipFill>
        <p:spPr>
          <a:xfrm>
            <a:off x="9194243" y="0"/>
            <a:ext cx="5436158" cy="822960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451252"/>
            <a:ext cx="5670590" cy="708779"/>
          </a:xfrm>
          <a:prstGeom prst="rect">
            <a:avLst/>
          </a:prstGeom>
          <a:noFill/>
          <a:ln/>
        </p:spPr>
        <p:txBody>
          <a:bodyPr wrap="none" lIns="0" tIns="0" rIns="0" bIns="0" rtlCol="0" anchor="t"/>
          <a:lstStyle/>
          <a:p>
            <a:pPr marL="0" indent="0">
              <a:lnSpc>
                <a:spcPts val="5550"/>
              </a:lnSpc>
              <a:buNone/>
            </a:pPr>
            <a:r>
              <a:rPr lang="en-US" sz="4450" b="1" dirty="0" smtClean="0">
                <a:solidFill>
                  <a:srgbClr val="F94CAF"/>
                </a:solidFill>
                <a:latin typeface="Arial Black" panose="020B0A04020102020204" pitchFamily="34" charset="0"/>
                <a:ea typeface="Inconsolata Bold" pitchFamily="34" charset="-122"/>
                <a:cs typeface="Inconsolata Bold" pitchFamily="34" charset="-120"/>
              </a:rPr>
              <a:t>Idea de </a:t>
            </a:r>
            <a:r>
              <a:rPr lang="en-US" sz="4450" b="1" dirty="0" err="1" smtClean="0">
                <a:solidFill>
                  <a:srgbClr val="F94CAF"/>
                </a:solidFill>
                <a:latin typeface="Arial Black" panose="020B0A04020102020204" pitchFamily="34" charset="0"/>
                <a:ea typeface="Inconsolata Bold" pitchFamily="34" charset="-122"/>
                <a:cs typeface="Inconsolata Bold" pitchFamily="34" charset="-120"/>
              </a:rPr>
              <a:t>projecte</a:t>
            </a:r>
            <a:endParaRPr lang="en-US" sz="4450" b="1" dirty="0">
              <a:solidFill>
                <a:srgbClr val="F94CAF"/>
              </a:solidFill>
              <a:latin typeface="Arial Black" panose="020B0A04020102020204" pitchFamily="34" charset="0"/>
              <a:ea typeface="Inconsolata Bold" pitchFamily="34" charset="-122"/>
              <a:cs typeface="Inconsolata Bold" pitchFamily="34" charset="-120"/>
            </a:endParaRPr>
          </a:p>
        </p:txBody>
      </p:sp>
      <p:sp>
        <p:nvSpPr>
          <p:cNvPr id="4" name="Text 2"/>
          <p:cNvSpPr/>
          <p:nvPr/>
        </p:nvSpPr>
        <p:spPr>
          <a:xfrm>
            <a:off x="793790" y="3308151"/>
            <a:ext cx="8812123" cy="1088708"/>
          </a:xfrm>
          <a:prstGeom prst="rect">
            <a:avLst/>
          </a:prstGeom>
          <a:noFill/>
          <a:ln/>
        </p:spPr>
        <p:txBody>
          <a:bodyPr wrap="square" lIns="0" tIns="0" rIns="0" bIns="0" rtlCol="0" anchor="t"/>
          <a:lstStyle/>
          <a:p>
            <a:pPr>
              <a:lnSpc>
                <a:spcPts val="3900"/>
              </a:lnSpc>
            </a:pPr>
            <a:r>
              <a:rPr lang="ca-ES" sz="2000" dirty="0" smtClean="0">
                <a:solidFill>
                  <a:srgbClr val="DAD1E6"/>
                </a:solidFill>
                <a:latin typeface="Arial Black" pitchFamily="34" charset="0"/>
                <a:ea typeface="Fira Sans" pitchFamily="34" charset="-122"/>
                <a:cs typeface="Fira Sans" pitchFamily="34" charset="-120"/>
              </a:rPr>
              <a:t>Una idea de projecte és la visió inicial </a:t>
            </a:r>
          </a:p>
          <a:p>
            <a:pPr>
              <a:lnSpc>
                <a:spcPts val="3900"/>
              </a:lnSpc>
            </a:pPr>
            <a:r>
              <a:rPr lang="ca-ES" sz="2000" dirty="0" smtClean="0">
                <a:solidFill>
                  <a:srgbClr val="DAD1E6"/>
                </a:solidFill>
                <a:latin typeface="Arial Black" pitchFamily="34" charset="0"/>
                <a:ea typeface="Fira Sans" pitchFamily="34" charset="-122"/>
                <a:cs typeface="Fira Sans" pitchFamily="34" charset="-120"/>
              </a:rPr>
              <a:t>d'una </a:t>
            </a:r>
            <a:r>
              <a:rPr lang="ca-ES" sz="2800" u="sng" dirty="0" smtClean="0">
                <a:solidFill>
                  <a:srgbClr val="00B0F0"/>
                </a:solidFill>
                <a:latin typeface="Arial Black" pitchFamily="34" charset="0"/>
                <a:ea typeface="Fira Sans" pitchFamily="34" charset="-122"/>
                <a:cs typeface="Fira Sans" pitchFamily="34" charset="-120"/>
              </a:rPr>
              <a:t>SOLUCIÓ</a:t>
            </a:r>
            <a:r>
              <a:rPr lang="ca-ES" sz="2400" dirty="0" smtClean="0">
                <a:solidFill>
                  <a:srgbClr val="DAD1E6"/>
                </a:solidFill>
                <a:latin typeface="Arial Black" pitchFamily="34" charset="0"/>
                <a:ea typeface="Fira Sans" pitchFamily="34" charset="-122"/>
                <a:cs typeface="Fira Sans" pitchFamily="34" charset="-120"/>
              </a:rPr>
              <a:t> </a:t>
            </a:r>
          </a:p>
          <a:p>
            <a:pPr>
              <a:lnSpc>
                <a:spcPts val="3900"/>
              </a:lnSpc>
            </a:pPr>
            <a:r>
              <a:rPr lang="ca-ES" sz="2000" dirty="0" smtClean="0">
                <a:solidFill>
                  <a:srgbClr val="DAD1E6"/>
                </a:solidFill>
                <a:latin typeface="Arial Black" pitchFamily="34" charset="0"/>
                <a:ea typeface="Fira Sans" pitchFamily="34" charset="-122"/>
                <a:cs typeface="Fira Sans" pitchFamily="34" charset="-120"/>
              </a:rPr>
              <a:t>                                ....per resoldre un </a:t>
            </a:r>
            <a:r>
              <a:rPr lang="ca-ES" sz="2800" u="sng" dirty="0" smtClean="0">
                <a:solidFill>
                  <a:schemeClr val="accent2"/>
                </a:solidFill>
                <a:latin typeface="Arial Black" pitchFamily="34" charset="0"/>
                <a:ea typeface="Fira Sans" pitchFamily="34" charset="-122"/>
                <a:cs typeface="Fira Sans" pitchFamily="34" charset="-120"/>
              </a:rPr>
              <a:t>PROBLEMA</a:t>
            </a:r>
            <a:r>
              <a:rPr lang="ca-ES" sz="2000" dirty="0" smtClean="0">
                <a:solidFill>
                  <a:srgbClr val="DAD1E6"/>
                </a:solidFill>
                <a:latin typeface="Arial Black" pitchFamily="34" charset="0"/>
                <a:ea typeface="Fira Sans" pitchFamily="34" charset="-122"/>
                <a:cs typeface="Fira Sans" pitchFamily="34" charset="-120"/>
              </a:rPr>
              <a:t> </a:t>
            </a:r>
          </a:p>
          <a:p>
            <a:pPr>
              <a:lnSpc>
                <a:spcPts val="3900"/>
              </a:lnSpc>
            </a:pPr>
            <a:r>
              <a:rPr lang="ca-ES" sz="2000" dirty="0" smtClean="0">
                <a:solidFill>
                  <a:srgbClr val="DAD1E6"/>
                </a:solidFill>
                <a:latin typeface="Arial Black" pitchFamily="34" charset="0"/>
                <a:ea typeface="Fira Sans" pitchFamily="34" charset="-122"/>
                <a:cs typeface="Fira Sans" pitchFamily="34" charset="-120"/>
              </a:rPr>
              <a:t>o satisfer una necessitat específica.</a:t>
            </a:r>
            <a:endParaRPr lang="ca-ES" sz="2000" dirty="0">
              <a:latin typeface="Arial Black"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AutoShape 2" descr="A conceptual illustration of a mobile application designed for reliable assisted evacuation and confinement protocols in school buildings. The image features a user-friendly mobile interface with clear emergency icons and a real-time map showing evacuation routes. The background depicts a modern school environment with students and staff being guided by notifications on their devices. The color palette includes calm and trustworthy tones like blue, green, and white, symbolizing safety and guida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2051" name="Picture 3"/>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400801" y="0"/>
            <a:ext cx="8229600" cy="8229600"/>
          </a:xfrm>
          <a:prstGeom prst="rect">
            <a:avLst/>
          </a:prstGeom>
          <a:noFill/>
          <a:ln w="9525">
            <a:noFill/>
            <a:miter lim="800000"/>
            <a:headEnd/>
            <a:tailEnd/>
          </a:ln>
        </p:spPr>
      </p:pic>
      <p:sp>
        <p:nvSpPr>
          <p:cNvPr id="6" name="Text 0"/>
          <p:cNvSpPr/>
          <p:nvPr/>
        </p:nvSpPr>
        <p:spPr>
          <a:xfrm>
            <a:off x="793790" y="1451252"/>
            <a:ext cx="5670590" cy="708779"/>
          </a:xfrm>
          <a:prstGeom prst="rect">
            <a:avLst/>
          </a:prstGeom>
          <a:noFill/>
          <a:ln/>
        </p:spPr>
        <p:txBody>
          <a:bodyPr wrap="none" lIns="0" tIns="0" rIns="0" bIns="0" rtlCol="0" anchor="t"/>
          <a:lstStyle/>
          <a:p>
            <a:pPr marL="0" indent="0">
              <a:lnSpc>
                <a:spcPts val="5550"/>
              </a:lnSpc>
              <a:buNone/>
            </a:pPr>
            <a:r>
              <a:rPr lang="en-US" sz="4450" b="1" dirty="0" err="1" smtClean="0">
                <a:solidFill>
                  <a:srgbClr val="F94CAF"/>
                </a:solidFill>
                <a:latin typeface="Arial Black" panose="020B0A04020102020204" pitchFamily="34" charset="0"/>
                <a:ea typeface="Inconsolata Bold" pitchFamily="34" charset="-122"/>
                <a:cs typeface="Inconsolata Bold" pitchFamily="34" charset="-120"/>
              </a:rPr>
              <a:t>Exemple</a:t>
            </a:r>
            <a:r>
              <a:rPr lang="en-US" sz="4450" b="1" dirty="0" smtClean="0">
                <a:solidFill>
                  <a:srgbClr val="F94CAF"/>
                </a:solidFill>
                <a:latin typeface="Arial Black" panose="020B0A04020102020204" pitchFamily="34" charset="0"/>
                <a:ea typeface="Inconsolata Bold" pitchFamily="34" charset="-122"/>
                <a:cs typeface="Inconsolata Bold" pitchFamily="34" charset="-120"/>
              </a:rPr>
              <a:t>:</a:t>
            </a:r>
            <a:endParaRPr lang="en-US" sz="4450" b="1" dirty="0">
              <a:solidFill>
                <a:srgbClr val="F94CAF"/>
              </a:solidFill>
              <a:latin typeface="Arial Black" panose="020B0A04020102020204" pitchFamily="34" charset="0"/>
              <a:ea typeface="Inconsolata Bold" pitchFamily="34" charset="-122"/>
              <a:cs typeface="Inconsolata Bold" pitchFamily="34" charset="-120"/>
            </a:endParaRPr>
          </a:p>
        </p:txBody>
      </p:sp>
      <p:sp>
        <p:nvSpPr>
          <p:cNvPr id="7" name="Text 2"/>
          <p:cNvSpPr/>
          <p:nvPr/>
        </p:nvSpPr>
        <p:spPr>
          <a:xfrm>
            <a:off x="793791" y="2873829"/>
            <a:ext cx="4518438" cy="1523030"/>
          </a:xfrm>
          <a:prstGeom prst="rect">
            <a:avLst/>
          </a:prstGeom>
          <a:noFill/>
          <a:ln/>
        </p:spPr>
        <p:txBody>
          <a:bodyPr wrap="square" lIns="0" tIns="0" rIns="0" bIns="0" rtlCol="0" anchor="t"/>
          <a:lstStyle/>
          <a:p>
            <a:pPr>
              <a:lnSpc>
                <a:spcPts val="3400"/>
              </a:lnSpc>
            </a:pPr>
            <a:r>
              <a:rPr lang="ca-ES" sz="2000" dirty="0" smtClean="0">
                <a:solidFill>
                  <a:srgbClr val="DAD1E6"/>
                </a:solidFill>
                <a:latin typeface="Arial Black" pitchFamily="34" charset="0"/>
                <a:ea typeface="Fira Sans" pitchFamily="34" charset="-122"/>
                <a:cs typeface="Fira Sans" pitchFamily="34" charset="-120"/>
              </a:rPr>
              <a:t>Aplicació per a terminals mòbils, de suport en Protocol d'Evacuació i Confinament assistit i fiable per a les persones que es trobin en un l'edifici escolar.</a:t>
            </a:r>
            <a:endParaRPr lang="ca-ES" sz="2000" dirty="0">
              <a:latin typeface="Arial Black"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451252"/>
            <a:ext cx="5670590" cy="708779"/>
          </a:xfrm>
          <a:prstGeom prst="rect">
            <a:avLst/>
          </a:prstGeom>
          <a:noFill/>
          <a:ln/>
        </p:spPr>
        <p:txBody>
          <a:bodyPr wrap="none" lIns="0" tIns="0" rIns="0" bIns="0" rtlCol="0" anchor="t"/>
          <a:lstStyle/>
          <a:p>
            <a:pPr marL="0" indent="0">
              <a:lnSpc>
                <a:spcPts val="5550"/>
              </a:lnSpc>
              <a:buNone/>
            </a:pPr>
            <a:r>
              <a:rPr lang="ca-ES" sz="4450" b="1" dirty="0" smtClean="0">
                <a:solidFill>
                  <a:srgbClr val="F94CAF"/>
                </a:solidFill>
                <a:latin typeface="Arial Black" panose="020B0A04020102020204" pitchFamily="34" charset="0"/>
                <a:ea typeface="Inconsolata Bold" pitchFamily="34" charset="-122"/>
                <a:cs typeface="Inconsolata Bold" pitchFamily="34" charset="-120"/>
              </a:rPr>
              <a:t>Solució</a:t>
            </a:r>
            <a:endParaRPr lang="ca-ES" sz="4450" b="1" dirty="0">
              <a:solidFill>
                <a:srgbClr val="F94CAF"/>
              </a:solidFill>
              <a:latin typeface="Arial Black" panose="020B0A04020102020204" pitchFamily="34" charset="0"/>
              <a:ea typeface="Inconsolata Bold" pitchFamily="34" charset="-122"/>
              <a:cs typeface="Inconsolata Bold" pitchFamily="34" charset="-120"/>
            </a:endParaRPr>
          </a:p>
        </p:txBody>
      </p:sp>
      <p:sp>
        <p:nvSpPr>
          <p:cNvPr id="6" name="Text 4"/>
          <p:cNvSpPr/>
          <p:nvPr/>
        </p:nvSpPr>
        <p:spPr>
          <a:xfrm>
            <a:off x="793790" y="3308151"/>
            <a:ext cx="6244709" cy="1088708"/>
          </a:xfrm>
          <a:prstGeom prst="rect">
            <a:avLst/>
          </a:prstGeom>
          <a:noFill/>
          <a:ln/>
        </p:spPr>
        <p:txBody>
          <a:bodyPr wrap="square" lIns="0" tIns="0" rIns="0" bIns="0" rtlCol="0" anchor="t"/>
          <a:lstStyle/>
          <a:p>
            <a:pPr>
              <a:lnSpc>
                <a:spcPts val="2850"/>
              </a:lnSpc>
            </a:pPr>
            <a:r>
              <a:rPr lang="ca-ES" sz="2000" dirty="0" smtClean="0">
                <a:solidFill>
                  <a:srgbClr val="DAD1E6"/>
                </a:solidFill>
                <a:latin typeface="Arial Black" pitchFamily="34" charset="0"/>
                <a:ea typeface="Fira Sans" pitchFamily="34" charset="-122"/>
                <a:cs typeface="Fira Sans" pitchFamily="34" charset="-120"/>
              </a:rPr>
              <a:t>Una solució és </a:t>
            </a:r>
            <a:r>
              <a:rPr lang="ca-ES" sz="2000" dirty="0">
                <a:solidFill>
                  <a:srgbClr val="DAD1E6"/>
                </a:solidFill>
                <a:latin typeface="Arial Black" pitchFamily="34" charset="0"/>
                <a:ea typeface="Fira Sans" pitchFamily="34" charset="-122"/>
                <a:cs typeface="Fira Sans" pitchFamily="34" charset="-120"/>
              </a:rPr>
              <a:t> </a:t>
            </a:r>
            <a:r>
              <a:rPr lang="ca-ES" sz="2000" dirty="0" smtClean="0">
                <a:solidFill>
                  <a:srgbClr val="DAD1E6"/>
                </a:solidFill>
                <a:latin typeface="Arial Black" pitchFamily="34" charset="0"/>
                <a:ea typeface="Fira Sans" pitchFamily="34" charset="-122"/>
                <a:cs typeface="Fira Sans" pitchFamily="34" charset="-120"/>
              </a:rPr>
              <a:t>el concepte,  mecanisme, programa, utilitat, disseny, desenvolupament o la implementació d'un sistema per a l'objectiu plantejat.</a:t>
            </a:r>
            <a:endParaRPr lang="ca-ES" sz="2000" dirty="0">
              <a:solidFill>
                <a:srgbClr val="DAD1E6"/>
              </a:solidFill>
              <a:latin typeface="Arial Black" pitchFamily="34" charset="0"/>
              <a:ea typeface="Fira Sans" pitchFamily="34" charset="-122"/>
              <a:cs typeface="Fira Sans" pitchFamily="34" charset="-120"/>
            </a:endParaRPr>
          </a:p>
        </p:txBody>
      </p:sp>
      <p:sp>
        <p:nvSpPr>
          <p:cNvPr id="4098" name="AutoShape 2" descr="A functional diagram representing a mobile application for evacuation and confinement protocols. The diagram includes multiple interconnected components: user interface, real-time evacuation map, notification system, AI decision-making engine, building layout analysis, and emergency response integration. Each part is clearly labeled and visually distinct, using arrows and lines to show connections and data flow. The design is sleek and professional, with a high-tech style using a color palette of blue, white, and grey tones to emphasize clarity and reliabilit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89" y="1451252"/>
            <a:ext cx="6040643" cy="708779"/>
          </a:xfrm>
          <a:prstGeom prst="rect">
            <a:avLst/>
          </a:prstGeom>
          <a:noFill/>
          <a:ln/>
        </p:spPr>
        <p:txBody>
          <a:bodyPr wrap="none" lIns="0" tIns="0" rIns="0" bIns="0" rtlCol="0" anchor="t"/>
          <a:lstStyle/>
          <a:p>
            <a:pPr marL="0" indent="0">
              <a:lnSpc>
                <a:spcPts val="5550"/>
              </a:lnSpc>
              <a:buNone/>
            </a:pPr>
            <a:r>
              <a:rPr lang="ca-ES" sz="4450" b="1" dirty="0" err="1" smtClean="0">
                <a:solidFill>
                  <a:srgbClr val="F94CAF"/>
                </a:solidFill>
                <a:latin typeface="Arial Black" panose="020B0A04020102020204" pitchFamily="34" charset="0"/>
                <a:ea typeface="Inconsolata Bold" pitchFamily="34" charset="-122"/>
                <a:cs typeface="Inconsolata Bold" pitchFamily="34" charset="-120"/>
              </a:rPr>
              <a:t>Exmple</a:t>
            </a:r>
            <a:r>
              <a:rPr lang="ca-ES" sz="4450" b="1" dirty="0" smtClean="0">
                <a:solidFill>
                  <a:srgbClr val="F94CAF"/>
                </a:solidFill>
                <a:latin typeface="Arial Black" panose="020B0A04020102020204" pitchFamily="34" charset="0"/>
                <a:ea typeface="Inconsolata Bold" pitchFamily="34" charset="-122"/>
                <a:cs typeface="Inconsolata Bold" pitchFamily="34" charset="-120"/>
              </a:rPr>
              <a:t> de Solució</a:t>
            </a:r>
            <a:endParaRPr lang="ca-ES" sz="4450" b="1" dirty="0">
              <a:solidFill>
                <a:srgbClr val="F94CAF"/>
              </a:solidFill>
              <a:latin typeface="Arial Black" panose="020B0A04020102020204" pitchFamily="34" charset="0"/>
              <a:ea typeface="Inconsolata Bold" pitchFamily="34" charset="-122"/>
              <a:cs typeface="Inconsolata Bold" pitchFamily="34" charset="-120"/>
            </a:endParaRPr>
          </a:p>
        </p:txBody>
      </p:sp>
      <p:sp>
        <p:nvSpPr>
          <p:cNvPr id="6" name="Text 4"/>
          <p:cNvSpPr/>
          <p:nvPr/>
        </p:nvSpPr>
        <p:spPr>
          <a:xfrm>
            <a:off x="793790" y="3308151"/>
            <a:ext cx="6244709" cy="1088708"/>
          </a:xfrm>
          <a:prstGeom prst="rect">
            <a:avLst/>
          </a:prstGeom>
          <a:noFill/>
          <a:ln/>
        </p:spPr>
        <p:txBody>
          <a:bodyPr wrap="square" lIns="0" tIns="0" rIns="0" bIns="0" rtlCol="0" anchor="t"/>
          <a:lstStyle/>
          <a:p>
            <a:pPr>
              <a:lnSpc>
                <a:spcPts val="2850"/>
              </a:lnSpc>
            </a:pPr>
            <a:r>
              <a:rPr lang="ca-ES" sz="2000" dirty="0" smtClean="0">
                <a:solidFill>
                  <a:srgbClr val="DAD1E6"/>
                </a:solidFill>
                <a:latin typeface="Arial Black" pitchFamily="34" charset="0"/>
                <a:ea typeface="Fira Sans" pitchFamily="34" charset="-122"/>
                <a:cs typeface="Fira Sans" pitchFamily="34" charset="-120"/>
              </a:rPr>
              <a:t>La nostra solució consistirà en una </a:t>
            </a:r>
            <a:r>
              <a:rPr lang="ca-ES" sz="2000" dirty="0" err="1" smtClean="0">
                <a:solidFill>
                  <a:srgbClr val="DAD1E6"/>
                </a:solidFill>
                <a:latin typeface="Arial Black" pitchFamily="34" charset="0"/>
                <a:ea typeface="Fira Sans" pitchFamily="34" charset="-122"/>
                <a:cs typeface="Fira Sans" pitchFamily="34" charset="-120"/>
              </a:rPr>
              <a:t>app</a:t>
            </a:r>
            <a:r>
              <a:rPr lang="ca-ES" sz="2000" dirty="0" smtClean="0">
                <a:solidFill>
                  <a:srgbClr val="DAD1E6"/>
                </a:solidFill>
                <a:latin typeface="Arial Black" pitchFamily="34" charset="0"/>
                <a:ea typeface="Fira Sans" pitchFamily="34" charset="-122"/>
                <a:cs typeface="Fira Sans" pitchFamily="34" charset="-120"/>
              </a:rPr>
              <a:t>. que es pot instal·lar en un dispositiu mòbil, com aplicació pròpia o inclús dintre d’alguna altra aplicació, i que es podrà utilitzar per avisar i assistir en la evacuació/confinament.</a:t>
            </a:r>
            <a:endParaRPr lang="ca-ES" sz="2000" dirty="0">
              <a:solidFill>
                <a:srgbClr val="DAD1E6"/>
              </a:solidFill>
              <a:latin typeface="Arial Black" pitchFamily="34" charset="0"/>
              <a:ea typeface="Fira Sans" pitchFamily="34" charset="-122"/>
              <a:cs typeface="Fira Sans" pitchFamily="34" charset="-120"/>
            </a:endParaRPr>
          </a:p>
        </p:txBody>
      </p:sp>
      <p:sp>
        <p:nvSpPr>
          <p:cNvPr id="4098" name="AutoShape 2" descr="A functional diagram representing a mobile application for evacuation and confinement protocols. The diagram includes multiple interconnected components: user interface, real-time evacuation map, notification system, AI decision-making engine, building layout analysis, and emergency response integration. Each part is clearly labeled and visually distinct, using arrows and lines to show connections and data flow. The design is sleek and professional, with a high-tech style using a color palette of blue, white, and grey tones to emphasize clarity and reliabilit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4099" name="Picture 3"/>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8170572" y="1718487"/>
            <a:ext cx="5356741" cy="5356741"/>
          </a:xfrm>
          <a:prstGeom prst="rect">
            <a:avLst/>
          </a:prstGeom>
          <a:noFill/>
          <a:ln w="9525">
            <a:noFill/>
            <a:miter lim="800000"/>
            <a:headEnd/>
            <a:tailEnd/>
          </a:ln>
        </p:spPr>
      </p:pic>
    </p:spTree>
    <p:extLst>
      <p:ext uri="{BB962C8B-B14F-4D97-AF65-F5344CB8AC3E}">
        <p14:creationId xmlns:p14="http://schemas.microsoft.com/office/powerpoint/2010/main" val="41582040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5486400" cy="8229600"/>
          </a:xfrm>
          <a:prstGeom prst="rect">
            <a:avLst/>
          </a:prstGeom>
        </p:spPr>
      </p:pic>
      <p:sp>
        <p:nvSpPr>
          <p:cNvPr id="3" name="Text 0"/>
          <p:cNvSpPr/>
          <p:nvPr/>
        </p:nvSpPr>
        <p:spPr>
          <a:xfrm>
            <a:off x="6280190" y="889242"/>
            <a:ext cx="7370683" cy="708779"/>
          </a:xfrm>
          <a:prstGeom prst="rect">
            <a:avLst/>
          </a:prstGeom>
          <a:noFill/>
          <a:ln/>
        </p:spPr>
        <p:txBody>
          <a:bodyPr wrap="none" lIns="0" tIns="0" rIns="0" bIns="0" rtlCol="0" anchor="t"/>
          <a:lstStyle/>
          <a:p>
            <a:pPr marL="0" indent="0">
              <a:lnSpc>
                <a:spcPts val="5550"/>
              </a:lnSpc>
              <a:buNone/>
            </a:pPr>
            <a:r>
              <a:rPr lang="ca-ES" sz="4450" b="1" dirty="0" smtClean="0">
                <a:solidFill>
                  <a:schemeClr val="bg1"/>
                </a:solidFill>
                <a:latin typeface="Arial Black" panose="020B0A04020102020204" pitchFamily="34" charset="0"/>
                <a:ea typeface="Inconsolata Bold" pitchFamily="34" charset="-122"/>
                <a:cs typeface="Inconsolata Bold" pitchFamily="34" charset="-120"/>
              </a:rPr>
              <a:t>Tecnologies </a:t>
            </a:r>
          </a:p>
          <a:p>
            <a:pPr marL="0" indent="0">
              <a:lnSpc>
                <a:spcPts val="5550"/>
              </a:lnSpc>
              <a:buNone/>
            </a:pPr>
            <a:r>
              <a:rPr lang="ca-ES" sz="4450" b="1" dirty="0" smtClean="0">
                <a:solidFill>
                  <a:schemeClr val="bg1"/>
                </a:solidFill>
                <a:latin typeface="Arial Black" panose="020B0A04020102020204" pitchFamily="34" charset="0"/>
                <a:ea typeface="Inconsolata Bold" pitchFamily="34" charset="-122"/>
                <a:cs typeface="Inconsolata Bold" pitchFamily="34" charset="-120"/>
              </a:rPr>
              <a:t>a utilitzar</a:t>
            </a:r>
            <a:endParaRPr lang="ca-ES" sz="4450" dirty="0">
              <a:solidFill>
                <a:schemeClr val="bg1"/>
              </a:solidFill>
              <a:latin typeface="Arial Black" panose="020B0A04020102020204" pitchFamily="34" charset="0"/>
            </a:endParaRPr>
          </a:p>
        </p:txBody>
      </p:sp>
      <p:sp>
        <p:nvSpPr>
          <p:cNvPr id="4" name="Shape 1"/>
          <p:cNvSpPr/>
          <p:nvPr/>
        </p:nvSpPr>
        <p:spPr>
          <a:xfrm>
            <a:off x="6280190" y="3070027"/>
            <a:ext cx="396835" cy="396835"/>
          </a:xfrm>
          <a:prstGeom prst="roundRect">
            <a:avLst>
              <a:gd name="adj" fmla="val 8574"/>
            </a:avLst>
          </a:prstGeom>
          <a:solidFill>
            <a:srgbClr val="433550"/>
          </a:solidFill>
          <a:ln/>
        </p:spPr>
      </p:sp>
      <p:sp>
        <p:nvSpPr>
          <p:cNvPr id="5" name="Text 2"/>
          <p:cNvSpPr/>
          <p:nvPr/>
        </p:nvSpPr>
        <p:spPr>
          <a:xfrm>
            <a:off x="6903839" y="3070027"/>
            <a:ext cx="2835235" cy="354330"/>
          </a:xfrm>
          <a:prstGeom prst="rect">
            <a:avLst/>
          </a:prstGeom>
          <a:noFill/>
          <a:ln/>
        </p:spPr>
        <p:txBody>
          <a:bodyPr wrap="none" lIns="0" tIns="0" rIns="0" bIns="0" rtlCol="0" anchor="t"/>
          <a:lstStyle/>
          <a:p>
            <a:pPr>
              <a:lnSpc>
                <a:spcPts val="2750"/>
              </a:lnSpc>
            </a:pPr>
            <a:r>
              <a:rPr lang="en-US" sz="2200" b="1" dirty="0">
                <a:solidFill>
                  <a:schemeClr val="bg1"/>
                </a:solidFill>
                <a:latin typeface="Arial Black" panose="020B0A04020102020204" pitchFamily="34" charset="0"/>
                <a:ea typeface="Inconsolata Bold" pitchFamily="34" charset="-122"/>
                <a:cs typeface="Inconsolata Bold" pitchFamily="34" charset="-120"/>
              </a:rPr>
              <a:t>Tecnologia</a:t>
            </a:r>
          </a:p>
        </p:txBody>
      </p:sp>
      <p:sp>
        <p:nvSpPr>
          <p:cNvPr id="6" name="Text 3"/>
          <p:cNvSpPr/>
          <p:nvPr/>
        </p:nvSpPr>
        <p:spPr>
          <a:xfrm>
            <a:off x="6903839" y="3560445"/>
            <a:ext cx="3041213" cy="2903220"/>
          </a:xfrm>
          <a:prstGeom prst="rect">
            <a:avLst/>
          </a:prstGeom>
          <a:noFill/>
          <a:ln/>
        </p:spPr>
        <p:txBody>
          <a:bodyPr wrap="square" lIns="0" tIns="0" rIns="0" bIns="0" rtlCol="0" anchor="t"/>
          <a:lstStyle/>
          <a:p>
            <a:pPr marL="0" indent="0">
              <a:lnSpc>
                <a:spcPts val="2850"/>
              </a:lnSpc>
              <a:buNone/>
            </a:pPr>
            <a:r>
              <a:rPr lang="en-US" sz="1750" dirty="0">
                <a:solidFill>
                  <a:srgbClr val="DAD1E6"/>
                </a:solidFill>
                <a:latin typeface="Fira Sans" pitchFamily="34" charset="0"/>
                <a:ea typeface="Fira Sans" pitchFamily="34" charset="-122"/>
                <a:cs typeface="Fira Sans" pitchFamily="34" charset="-120"/>
              </a:rPr>
              <a:t>La nostra plataforma s'implementarà amb Python com a llenguatge principal, amb frameworks com Django i Flask per al desenvolupament web, i bases de dades NoSQL per a l'emmagatzematge de dades.</a:t>
            </a:r>
            <a:endParaRPr lang="en-US" sz="1750" dirty="0"/>
          </a:p>
        </p:txBody>
      </p:sp>
      <p:sp>
        <p:nvSpPr>
          <p:cNvPr id="7" name="Shape 4"/>
          <p:cNvSpPr/>
          <p:nvPr/>
        </p:nvSpPr>
        <p:spPr>
          <a:xfrm>
            <a:off x="10171867" y="3070027"/>
            <a:ext cx="396835" cy="396835"/>
          </a:xfrm>
          <a:prstGeom prst="roundRect">
            <a:avLst>
              <a:gd name="adj" fmla="val 8574"/>
            </a:avLst>
          </a:prstGeom>
          <a:solidFill>
            <a:srgbClr val="433550"/>
          </a:solidFill>
          <a:ln/>
        </p:spPr>
      </p:sp>
      <p:sp>
        <p:nvSpPr>
          <p:cNvPr id="8" name="Text 5"/>
          <p:cNvSpPr/>
          <p:nvPr/>
        </p:nvSpPr>
        <p:spPr>
          <a:xfrm>
            <a:off x="10826890" y="3091279"/>
            <a:ext cx="2835235" cy="354330"/>
          </a:xfrm>
          <a:prstGeom prst="rect">
            <a:avLst/>
          </a:prstGeom>
          <a:noFill/>
          <a:ln/>
        </p:spPr>
        <p:txBody>
          <a:bodyPr wrap="none" lIns="0" tIns="0" rIns="0" bIns="0" rtlCol="0" anchor="t"/>
          <a:lstStyle/>
          <a:p>
            <a:pPr marL="0" indent="0">
              <a:lnSpc>
                <a:spcPts val="2750"/>
              </a:lnSpc>
              <a:buNone/>
            </a:pPr>
            <a:r>
              <a:rPr lang="en-US" sz="2200" b="1" dirty="0">
                <a:solidFill>
                  <a:schemeClr val="bg1"/>
                </a:solidFill>
                <a:latin typeface="Arial Black" panose="020B0A04020102020204" pitchFamily="34" charset="0"/>
                <a:ea typeface="Inconsolata Bold" pitchFamily="34" charset="-122"/>
                <a:cs typeface="Inconsolata Bold" pitchFamily="34" charset="-120"/>
              </a:rPr>
              <a:t>Motivació</a:t>
            </a:r>
          </a:p>
        </p:txBody>
      </p:sp>
      <p:sp>
        <p:nvSpPr>
          <p:cNvPr id="9" name="Text 6"/>
          <p:cNvSpPr/>
          <p:nvPr/>
        </p:nvSpPr>
        <p:spPr>
          <a:xfrm>
            <a:off x="10795516" y="3560445"/>
            <a:ext cx="3041213" cy="2177415"/>
          </a:xfrm>
          <a:prstGeom prst="rect">
            <a:avLst/>
          </a:prstGeom>
          <a:noFill/>
          <a:ln/>
        </p:spPr>
        <p:txBody>
          <a:bodyPr wrap="square" lIns="0" tIns="0" rIns="0" bIns="0" rtlCol="0" anchor="t"/>
          <a:lstStyle/>
          <a:p>
            <a:pPr marL="0" indent="0">
              <a:lnSpc>
                <a:spcPts val="2850"/>
              </a:lnSpc>
              <a:buNone/>
            </a:pPr>
            <a:r>
              <a:rPr lang="en-US" sz="1750" dirty="0">
                <a:solidFill>
                  <a:srgbClr val="DAD1E6"/>
                </a:solidFill>
                <a:latin typeface="Fira Sans" pitchFamily="34" charset="0"/>
                <a:ea typeface="Fira Sans" pitchFamily="34" charset="-122"/>
                <a:cs typeface="Fira Sans" pitchFamily="34" charset="-120"/>
              </a:rPr>
              <a:t>Aquesta tria s'ha fet per la seva escalabilitat, flexibilitat i capacitat per a integrar intel·ligència artificial, adaptant-se a les necessitats del projecte.</a:t>
            </a:r>
            <a:endParaRPr lang="en-US" sz="175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711875" y="561142"/>
            <a:ext cx="5085398" cy="635556"/>
          </a:xfrm>
          <a:prstGeom prst="rect">
            <a:avLst/>
          </a:prstGeom>
          <a:noFill/>
          <a:ln/>
        </p:spPr>
        <p:txBody>
          <a:bodyPr wrap="none" lIns="0" tIns="0" rIns="0" bIns="0" rtlCol="0" anchor="t"/>
          <a:lstStyle/>
          <a:p>
            <a:pPr marL="0" indent="0">
              <a:lnSpc>
                <a:spcPts val="5000"/>
              </a:lnSpc>
              <a:buNone/>
            </a:pPr>
            <a:r>
              <a:rPr lang="ca-ES" sz="4000" b="1" dirty="0" smtClean="0">
                <a:solidFill>
                  <a:srgbClr val="F94CAF"/>
                </a:solidFill>
                <a:latin typeface="Arial Black" pitchFamily="34" charset="0"/>
                <a:ea typeface="Inconsolata Bold" pitchFamily="34" charset="-122"/>
                <a:cs typeface="Inconsolata Bold" pitchFamily="34" charset="-120"/>
              </a:rPr>
              <a:t>Tasques de l'equip</a:t>
            </a:r>
            <a:endParaRPr lang="ca-ES" sz="4000" dirty="0">
              <a:latin typeface="Arial Black" pitchFamily="34" charset="0"/>
            </a:endParaRPr>
          </a:p>
        </p:txBody>
      </p:sp>
      <p:pic>
        <p:nvPicPr>
          <p:cNvPr id="4" name="Image 1"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11875" y="2880565"/>
            <a:ext cx="508516" cy="508516"/>
          </a:xfrm>
          <a:prstGeom prst="rect">
            <a:avLst/>
          </a:prstGeom>
        </p:spPr>
      </p:pic>
      <p:sp>
        <p:nvSpPr>
          <p:cNvPr id="5" name="Text 1"/>
          <p:cNvSpPr/>
          <p:nvPr/>
        </p:nvSpPr>
        <p:spPr>
          <a:xfrm>
            <a:off x="711875" y="3592440"/>
            <a:ext cx="2542699" cy="317897"/>
          </a:xfrm>
          <a:prstGeom prst="rect">
            <a:avLst/>
          </a:prstGeom>
          <a:noFill/>
          <a:ln/>
        </p:spPr>
        <p:txBody>
          <a:bodyPr wrap="none" lIns="0" tIns="0" rIns="0" bIns="0" rtlCol="0" anchor="t"/>
          <a:lstStyle/>
          <a:p>
            <a:pPr marL="0" indent="0" algn="l">
              <a:lnSpc>
                <a:spcPts val="2500"/>
              </a:lnSpc>
              <a:buNone/>
            </a:pPr>
            <a:r>
              <a:rPr lang="en-US" sz="2000" b="1" dirty="0">
                <a:solidFill>
                  <a:srgbClr val="DAD1E6"/>
                </a:solidFill>
                <a:latin typeface="Inconsolata Bold" pitchFamily="34" charset="0"/>
                <a:ea typeface="Inconsolata Bold" pitchFamily="34" charset="-122"/>
                <a:cs typeface="Inconsolata Bold" pitchFamily="34" charset="-120"/>
              </a:rPr>
              <a:t>ASIX</a:t>
            </a:r>
            <a:endParaRPr lang="en-US" sz="2000" dirty="0"/>
          </a:p>
        </p:txBody>
      </p:sp>
      <p:sp>
        <p:nvSpPr>
          <p:cNvPr id="6" name="Text 2"/>
          <p:cNvSpPr/>
          <p:nvPr/>
        </p:nvSpPr>
        <p:spPr>
          <a:xfrm>
            <a:off x="711875" y="4032376"/>
            <a:ext cx="3707606" cy="1626394"/>
          </a:xfrm>
          <a:prstGeom prst="rect">
            <a:avLst/>
          </a:prstGeom>
          <a:noFill/>
          <a:ln/>
        </p:spPr>
        <p:txBody>
          <a:bodyPr wrap="square" lIns="0" tIns="0" rIns="0" bIns="0" rtlCol="0" anchor="t"/>
          <a:lstStyle/>
          <a:p>
            <a:pPr marL="0" indent="0" algn="l">
              <a:lnSpc>
                <a:spcPts val="2550"/>
              </a:lnSpc>
              <a:buNone/>
            </a:pPr>
            <a:r>
              <a:rPr lang="en-US" sz="1600" dirty="0">
                <a:solidFill>
                  <a:srgbClr val="DAD1E6"/>
                </a:solidFill>
                <a:latin typeface="Fira Sans" pitchFamily="34" charset="0"/>
                <a:ea typeface="Fira Sans" pitchFamily="34" charset="-122"/>
                <a:cs typeface="Fira Sans" pitchFamily="34" charset="-120"/>
              </a:rPr>
              <a:t>L’equip ASIX s'encarregarà de la configuració i administració dels servidors, la seguretat del sistema i l'optimització del rendiment de la plataforma.</a:t>
            </a:r>
            <a:endParaRPr lang="en-US" sz="1600" dirty="0"/>
          </a:p>
        </p:txBody>
      </p:sp>
      <p:pic>
        <p:nvPicPr>
          <p:cNvPr id="7" name="Image 2"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638901" y="2755188"/>
            <a:ext cx="508516" cy="508516"/>
          </a:xfrm>
          <a:prstGeom prst="rect">
            <a:avLst/>
          </a:prstGeom>
        </p:spPr>
      </p:pic>
      <p:sp>
        <p:nvSpPr>
          <p:cNvPr id="8" name="Text 3"/>
          <p:cNvSpPr/>
          <p:nvPr/>
        </p:nvSpPr>
        <p:spPr>
          <a:xfrm>
            <a:off x="5638901" y="3467063"/>
            <a:ext cx="2542699" cy="317897"/>
          </a:xfrm>
          <a:prstGeom prst="rect">
            <a:avLst/>
          </a:prstGeom>
          <a:noFill/>
          <a:ln/>
        </p:spPr>
        <p:txBody>
          <a:bodyPr wrap="none" lIns="0" tIns="0" rIns="0" bIns="0" rtlCol="0" anchor="t"/>
          <a:lstStyle/>
          <a:p>
            <a:pPr marL="0" indent="0" algn="l">
              <a:lnSpc>
                <a:spcPts val="2500"/>
              </a:lnSpc>
              <a:buNone/>
            </a:pPr>
            <a:r>
              <a:rPr lang="en-US" sz="2000" b="1" dirty="0">
                <a:solidFill>
                  <a:srgbClr val="DAD1E6"/>
                </a:solidFill>
                <a:latin typeface="Inconsolata Bold" pitchFamily="34" charset="0"/>
                <a:ea typeface="Inconsolata Bold" pitchFamily="34" charset="-122"/>
                <a:cs typeface="Inconsolata Bold" pitchFamily="34" charset="-120"/>
              </a:rPr>
              <a:t>DAM</a:t>
            </a:r>
            <a:endParaRPr lang="en-US" sz="2000" dirty="0"/>
          </a:p>
        </p:txBody>
      </p:sp>
      <p:sp>
        <p:nvSpPr>
          <p:cNvPr id="9" name="Text 4"/>
          <p:cNvSpPr/>
          <p:nvPr/>
        </p:nvSpPr>
        <p:spPr>
          <a:xfrm>
            <a:off x="5638901" y="3906999"/>
            <a:ext cx="3707606" cy="1301115"/>
          </a:xfrm>
          <a:prstGeom prst="rect">
            <a:avLst/>
          </a:prstGeom>
          <a:noFill/>
          <a:ln/>
        </p:spPr>
        <p:txBody>
          <a:bodyPr wrap="square" lIns="0" tIns="0" rIns="0" bIns="0" rtlCol="0" anchor="t"/>
          <a:lstStyle/>
          <a:p>
            <a:pPr marL="0" indent="0" algn="l">
              <a:lnSpc>
                <a:spcPts val="2550"/>
              </a:lnSpc>
              <a:buNone/>
            </a:pPr>
            <a:r>
              <a:rPr lang="en-US" sz="1600" dirty="0">
                <a:solidFill>
                  <a:srgbClr val="DAD1E6"/>
                </a:solidFill>
                <a:latin typeface="Fira Sans" pitchFamily="34" charset="0"/>
                <a:ea typeface="Fira Sans" pitchFamily="34" charset="-122"/>
                <a:cs typeface="Fira Sans" pitchFamily="34" charset="-120"/>
              </a:rPr>
              <a:t>Els estudiants de DAM desenvoluparan l'aplicació mòbil per a Android i iOS, integrant-la amb la plataforma central per a una experiència d'usuari fluida.</a:t>
            </a:r>
            <a:endParaRPr lang="en-US" sz="1600" dirty="0"/>
          </a:p>
        </p:txBody>
      </p:sp>
      <p:pic>
        <p:nvPicPr>
          <p:cNvPr id="10" name="Image 3"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538046" y="2531507"/>
            <a:ext cx="508516" cy="508516"/>
          </a:xfrm>
          <a:prstGeom prst="rect">
            <a:avLst/>
          </a:prstGeom>
        </p:spPr>
      </p:pic>
      <p:sp>
        <p:nvSpPr>
          <p:cNvPr id="11" name="Text 5"/>
          <p:cNvSpPr/>
          <p:nvPr/>
        </p:nvSpPr>
        <p:spPr>
          <a:xfrm>
            <a:off x="10538046" y="3243382"/>
            <a:ext cx="2542699" cy="317897"/>
          </a:xfrm>
          <a:prstGeom prst="rect">
            <a:avLst/>
          </a:prstGeom>
          <a:noFill/>
          <a:ln/>
        </p:spPr>
        <p:txBody>
          <a:bodyPr wrap="none" lIns="0" tIns="0" rIns="0" bIns="0" rtlCol="0" anchor="t"/>
          <a:lstStyle/>
          <a:p>
            <a:pPr marL="0" indent="0" algn="l">
              <a:lnSpc>
                <a:spcPts val="2500"/>
              </a:lnSpc>
              <a:buNone/>
            </a:pPr>
            <a:r>
              <a:rPr lang="en-US" sz="2000" b="1" dirty="0">
                <a:solidFill>
                  <a:srgbClr val="DAD1E6"/>
                </a:solidFill>
                <a:latin typeface="Inconsolata Bold" pitchFamily="34" charset="0"/>
                <a:ea typeface="Inconsolata Bold" pitchFamily="34" charset="-122"/>
                <a:cs typeface="Inconsolata Bold" pitchFamily="34" charset="-120"/>
              </a:rPr>
              <a:t>DAW</a:t>
            </a:r>
            <a:endParaRPr lang="en-US" sz="2000" dirty="0"/>
          </a:p>
        </p:txBody>
      </p:sp>
      <p:sp>
        <p:nvSpPr>
          <p:cNvPr id="12" name="Text 6"/>
          <p:cNvSpPr/>
          <p:nvPr/>
        </p:nvSpPr>
        <p:spPr>
          <a:xfrm>
            <a:off x="10538046" y="3683318"/>
            <a:ext cx="3707606" cy="1626394"/>
          </a:xfrm>
          <a:prstGeom prst="rect">
            <a:avLst/>
          </a:prstGeom>
          <a:noFill/>
          <a:ln/>
        </p:spPr>
        <p:txBody>
          <a:bodyPr wrap="square" lIns="0" tIns="0" rIns="0" bIns="0" rtlCol="0" anchor="t"/>
          <a:lstStyle/>
          <a:p>
            <a:pPr marL="0" indent="0" algn="l">
              <a:lnSpc>
                <a:spcPts val="2550"/>
              </a:lnSpc>
              <a:buNone/>
            </a:pPr>
            <a:r>
              <a:rPr lang="en-US" sz="1600" dirty="0">
                <a:solidFill>
                  <a:srgbClr val="DAD1E6"/>
                </a:solidFill>
                <a:latin typeface="Fira Sans" pitchFamily="34" charset="0"/>
                <a:ea typeface="Fira Sans" pitchFamily="34" charset="-122"/>
                <a:cs typeface="Fira Sans" pitchFamily="34" charset="-120"/>
              </a:rPr>
              <a:t>El grup de DAW s'encarregarà del desenvolupament web, integrant l'interfície d'usuari amb el backend i garantint una experiència de navegació atractiva.</a:t>
            </a:r>
            <a:endParaRPr lang="en-US" sz="16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5486400" cy="8229600"/>
          </a:xfrm>
          <a:prstGeom prst="rect">
            <a:avLst/>
          </a:prstGeom>
        </p:spPr>
      </p:pic>
      <p:sp>
        <p:nvSpPr>
          <p:cNvPr id="3" name="Text 0"/>
          <p:cNvSpPr/>
          <p:nvPr/>
        </p:nvSpPr>
        <p:spPr>
          <a:xfrm>
            <a:off x="6124617" y="971803"/>
            <a:ext cx="8006715" cy="496542"/>
          </a:xfrm>
          <a:prstGeom prst="rect">
            <a:avLst/>
          </a:prstGeom>
          <a:noFill/>
          <a:ln/>
        </p:spPr>
        <p:txBody>
          <a:bodyPr wrap="square" lIns="0" tIns="0" rIns="0" bIns="0" rtlCol="0" anchor="t"/>
          <a:lstStyle/>
          <a:p>
            <a:pPr marL="0" indent="0">
              <a:lnSpc>
                <a:spcPts val="3950"/>
              </a:lnSpc>
              <a:buNone/>
            </a:pPr>
            <a:r>
              <a:rPr lang="en-US" sz="4000" b="1" dirty="0">
                <a:solidFill>
                  <a:srgbClr val="F94CAF"/>
                </a:solidFill>
                <a:latin typeface="Arial Black" pitchFamily="34" charset="0"/>
                <a:ea typeface="Inconsolata Bold" pitchFamily="34" charset="-122"/>
                <a:cs typeface="Inconsolata Bold" pitchFamily="34" charset="-120"/>
              </a:rPr>
              <a:t>Agile, </a:t>
            </a:r>
            <a:r>
              <a:rPr lang="en-US" sz="4000" b="1" dirty="0" err="1" smtClean="0">
                <a:solidFill>
                  <a:srgbClr val="F94CAF"/>
                </a:solidFill>
                <a:latin typeface="Arial Black" pitchFamily="34" charset="0"/>
                <a:ea typeface="Inconsolata Bold" pitchFamily="34" charset="-122"/>
                <a:cs typeface="Inconsolata Bold" pitchFamily="34" charset="-120"/>
              </a:rPr>
              <a:t>autoorganització</a:t>
            </a:r>
            <a:r>
              <a:rPr lang="en-US" sz="4000" b="1" dirty="0" smtClean="0">
                <a:solidFill>
                  <a:srgbClr val="F94CAF"/>
                </a:solidFill>
                <a:latin typeface="Arial Black" pitchFamily="34" charset="0"/>
                <a:ea typeface="Inconsolata Bold" pitchFamily="34" charset="-122"/>
                <a:cs typeface="Inconsolata Bold" pitchFamily="34" charset="-120"/>
              </a:rPr>
              <a:t>, sprints…</a:t>
            </a:r>
            <a:endParaRPr lang="en-US" sz="4000" b="1" dirty="0">
              <a:solidFill>
                <a:srgbClr val="F94CAF"/>
              </a:solidFill>
              <a:latin typeface="Arial Black" pitchFamily="34" charset="0"/>
              <a:ea typeface="Inconsolata Bold" pitchFamily="34" charset="-122"/>
              <a:cs typeface="Inconsolata Bold" pitchFamily="34" charset="-120"/>
            </a:endParaRPr>
          </a:p>
        </p:txBody>
      </p:sp>
      <p:pic>
        <p:nvPicPr>
          <p:cNvPr id="4"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055043" y="2599749"/>
            <a:ext cx="406241" cy="406241"/>
          </a:xfrm>
          <a:prstGeom prst="rect">
            <a:avLst/>
          </a:prstGeom>
        </p:spPr>
      </p:pic>
      <p:sp>
        <p:nvSpPr>
          <p:cNvPr id="5" name="Text 1"/>
          <p:cNvSpPr/>
          <p:nvPr/>
        </p:nvSpPr>
        <p:spPr>
          <a:xfrm>
            <a:off x="6055043" y="3168392"/>
            <a:ext cx="2031206" cy="253841"/>
          </a:xfrm>
          <a:prstGeom prst="rect">
            <a:avLst/>
          </a:prstGeom>
          <a:noFill/>
          <a:ln/>
        </p:spPr>
        <p:txBody>
          <a:bodyPr wrap="none" lIns="0" tIns="0" rIns="0" bIns="0" rtlCol="0" anchor="t"/>
          <a:lstStyle/>
          <a:p>
            <a:pPr marL="0" indent="0" algn="l">
              <a:lnSpc>
                <a:spcPts val="1950"/>
              </a:lnSpc>
              <a:buNone/>
            </a:pPr>
            <a:r>
              <a:rPr lang="en-US" sz="2400" dirty="0">
                <a:solidFill>
                  <a:schemeClr val="accent1"/>
                </a:solidFill>
                <a:latin typeface="Arial Black" pitchFamily="34" charset="0"/>
                <a:ea typeface="DM Sans" pitchFamily="34" charset="-122"/>
                <a:cs typeface="DM Sans" pitchFamily="34" charset="-120"/>
              </a:rPr>
              <a:t>Agile</a:t>
            </a:r>
            <a:endParaRPr lang="en-US" sz="2400" dirty="0">
              <a:solidFill>
                <a:schemeClr val="accent1"/>
              </a:solidFill>
              <a:latin typeface="Arial Black" pitchFamily="34" charset="0"/>
            </a:endParaRPr>
          </a:p>
        </p:txBody>
      </p:sp>
      <p:sp>
        <p:nvSpPr>
          <p:cNvPr id="6" name="Text 2"/>
          <p:cNvSpPr/>
          <p:nvPr/>
        </p:nvSpPr>
        <p:spPr>
          <a:xfrm>
            <a:off x="6055043" y="3519626"/>
            <a:ext cx="8006715" cy="780098"/>
          </a:xfrm>
          <a:prstGeom prst="rect">
            <a:avLst/>
          </a:prstGeom>
          <a:noFill/>
          <a:ln/>
        </p:spPr>
        <p:txBody>
          <a:bodyPr wrap="square" lIns="0" tIns="0" rIns="0" bIns="0" rtlCol="0" anchor="t"/>
          <a:lstStyle/>
          <a:p>
            <a:pPr marL="0" indent="0" algn="l">
              <a:lnSpc>
                <a:spcPts val="2000"/>
              </a:lnSpc>
              <a:buNone/>
            </a:pPr>
            <a:r>
              <a:rPr lang="en-US" sz="1600" dirty="0">
                <a:solidFill>
                  <a:srgbClr val="DAD1E6"/>
                </a:solidFill>
                <a:latin typeface="Arial" panose="020B0604020202020204" pitchFamily="34" charset="0"/>
                <a:ea typeface="Fira Sans" pitchFamily="34" charset="-122"/>
                <a:cs typeface="Arial" panose="020B0604020202020204" pitchFamily="34" charset="0"/>
              </a:rPr>
              <a:t>Agile promou la flexibilitat i l'adaptabilitat en la gestió de projectes. Es centra en cicles curts de desenvolupament, permetent ajustos ràpids basats en el feedback continu. Això resulta en una major satisfacció del client i una millor qualitat del producte final.</a:t>
            </a:r>
          </a:p>
        </p:txBody>
      </p:sp>
      <p:pic>
        <p:nvPicPr>
          <p:cNvPr id="7"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055043" y="5212675"/>
            <a:ext cx="406241" cy="406241"/>
          </a:xfrm>
          <a:prstGeom prst="rect">
            <a:avLst/>
          </a:prstGeom>
        </p:spPr>
      </p:pic>
      <p:sp>
        <p:nvSpPr>
          <p:cNvPr id="8" name="Text 3"/>
          <p:cNvSpPr/>
          <p:nvPr/>
        </p:nvSpPr>
        <p:spPr>
          <a:xfrm>
            <a:off x="6055043" y="5781318"/>
            <a:ext cx="2031206" cy="253841"/>
          </a:xfrm>
          <a:prstGeom prst="rect">
            <a:avLst/>
          </a:prstGeom>
          <a:noFill/>
          <a:ln/>
        </p:spPr>
        <p:txBody>
          <a:bodyPr wrap="none" lIns="0" tIns="0" rIns="0" bIns="0" rtlCol="0" anchor="t"/>
          <a:lstStyle/>
          <a:p>
            <a:pPr marL="0" indent="0" algn="l">
              <a:lnSpc>
                <a:spcPts val="1950"/>
              </a:lnSpc>
              <a:buNone/>
            </a:pPr>
            <a:r>
              <a:rPr lang="en-US" sz="2400" dirty="0">
                <a:solidFill>
                  <a:schemeClr val="accent1"/>
                </a:solidFill>
                <a:latin typeface="Arial Black" pitchFamily="34" charset="0"/>
                <a:ea typeface="DM Sans" pitchFamily="34" charset="-122"/>
                <a:cs typeface="DM Sans" pitchFamily="34" charset="-120"/>
              </a:rPr>
              <a:t>Scrum</a:t>
            </a:r>
          </a:p>
        </p:txBody>
      </p:sp>
      <p:sp>
        <p:nvSpPr>
          <p:cNvPr id="9" name="Text 4"/>
          <p:cNvSpPr/>
          <p:nvPr/>
        </p:nvSpPr>
        <p:spPr>
          <a:xfrm>
            <a:off x="6055043" y="6132552"/>
            <a:ext cx="8006715" cy="780098"/>
          </a:xfrm>
          <a:prstGeom prst="rect">
            <a:avLst/>
          </a:prstGeom>
          <a:noFill/>
          <a:ln/>
        </p:spPr>
        <p:txBody>
          <a:bodyPr wrap="square" lIns="0" tIns="0" rIns="0" bIns="0" rtlCol="0" anchor="t"/>
          <a:lstStyle/>
          <a:p>
            <a:pPr>
              <a:lnSpc>
                <a:spcPts val="2000"/>
              </a:lnSpc>
            </a:pPr>
            <a:r>
              <a:rPr lang="en-US" sz="1600" dirty="0">
                <a:solidFill>
                  <a:srgbClr val="DAD1E6"/>
                </a:solidFill>
                <a:latin typeface="Arial" panose="020B0604020202020204" pitchFamily="34" charset="0"/>
                <a:ea typeface="Fira Sans" pitchFamily="34" charset="-122"/>
                <a:cs typeface="Arial" panose="020B0604020202020204" pitchFamily="34" charset="0"/>
              </a:rPr>
              <a:t>Scrum és un marc de treball dins d'Agile que organitza el treball en sprints de dues a quatre setmanes. Utilitza rols específics com el Product Owner i el Scrum Master per facilitar la col·laboració i l'autoorganització de l'equip.</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tg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 y="-1"/>
            <a:ext cx="14630400" cy="8229601"/>
          </a:xfrm>
          <a:prstGeom prst="rect">
            <a:avLst/>
          </a:prstGeom>
        </p:spPr>
      </p:pic>
    </p:spTree>
    <p:extLst>
      <p:ext uri="{BB962C8B-B14F-4D97-AF65-F5344CB8AC3E}">
        <p14:creationId xmlns:p14="http://schemas.microsoft.com/office/powerpoint/2010/main" val="13338703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9427"/>
            <a:ext cx="5486400" cy="8229600"/>
          </a:xfrm>
          <a:prstGeom prst="rect">
            <a:avLst/>
          </a:prstGeom>
        </p:spPr>
      </p:pic>
      <p:sp>
        <p:nvSpPr>
          <p:cNvPr id="3" name="Text 0"/>
          <p:cNvSpPr/>
          <p:nvPr/>
        </p:nvSpPr>
        <p:spPr>
          <a:xfrm>
            <a:off x="6251258" y="777240"/>
            <a:ext cx="5463183" cy="682943"/>
          </a:xfrm>
          <a:prstGeom prst="rect">
            <a:avLst/>
          </a:prstGeom>
          <a:noFill/>
          <a:ln/>
        </p:spPr>
        <p:txBody>
          <a:bodyPr wrap="none" lIns="0" tIns="0" rIns="0" bIns="0" rtlCol="0" anchor="t"/>
          <a:lstStyle/>
          <a:p>
            <a:pPr marL="0" indent="0">
              <a:lnSpc>
                <a:spcPts val="5350"/>
              </a:lnSpc>
              <a:buNone/>
            </a:pPr>
            <a:r>
              <a:rPr lang="en-US" sz="4300" b="1" dirty="0" err="1" smtClean="0">
                <a:solidFill>
                  <a:srgbClr val="F94CAF"/>
                </a:solidFill>
                <a:latin typeface="Arial Black" pitchFamily="34" charset="0"/>
                <a:ea typeface="Inconsolata Bold" pitchFamily="34" charset="-122"/>
                <a:cs typeface="Inconsolata Bold" pitchFamily="34" charset="-120"/>
              </a:rPr>
              <a:t>Possibles</a:t>
            </a:r>
            <a:r>
              <a:rPr lang="en-US" sz="4300" b="1" dirty="0" smtClean="0">
                <a:solidFill>
                  <a:srgbClr val="F94CAF"/>
                </a:solidFill>
                <a:latin typeface="Arial Black" pitchFamily="34" charset="0"/>
                <a:ea typeface="Inconsolata Bold" pitchFamily="34" charset="-122"/>
                <a:cs typeface="Inconsolata Bold" pitchFamily="34" charset="-120"/>
              </a:rPr>
              <a:t> clients</a:t>
            </a:r>
            <a:endParaRPr lang="en-US" sz="4300" dirty="0">
              <a:latin typeface="Arial Black" pitchFamily="34" charset="0"/>
            </a:endParaRPr>
          </a:p>
        </p:txBody>
      </p:sp>
      <p:pic>
        <p:nvPicPr>
          <p:cNvPr id="4"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251258" y="1787962"/>
            <a:ext cx="1092637" cy="1958102"/>
          </a:xfrm>
          <a:prstGeom prst="rect">
            <a:avLst/>
          </a:prstGeom>
        </p:spPr>
      </p:pic>
      <p:sp>
        <p:nvSpPr>
          <p:cNvPr id="5" name="Text 1"/>
          <p:cNvSpPr/>
          <p:nvPr/>
        </p:nvSpPr>
        <p:spPr>
          <a:xfrm>
            <a:off x="7671673" y="2006441"/>
            <a:ext cx="2731532" cy="341352"/>
          </a:xfrm>
          <a:prstGeom prst="rect">
            <a:avLst/>
          </a:prstGeom>
          <a:noFill/>
          <a:ln/>
        </p:spPr>
        <p:txBody>
          <a:bodyPr wrap="none" lIns="0" tIns="0" rIns="0" bIns="0" rtlCol="0" anchor="t"/>
          <a:lstStyle/>
          <a:p>
            <a:pPr marL="0" indent="0" algn="l">
              <a:lnSpc>
                <a:spcPts val="2650"/>
              </a:lnSpc>
              <a:buNone/>
            </a:pPr>
            <a:r>
              <a:rPr lang="en-US" sz="2100" b="1" dirty="0">
                <a:solidFill>
                  <a:srgbClr val="F94CAF"/>
                </a:solidFill>
                <a:latin typeface="Arial Black" pitchFamily="34" charset="0"/>
                <a:ea typeface="Inconsolata Bold" pitchFamily="34" charset="-122"/>
                <a:cs typeface="Inconsolata Bold" pitchFamily="34" charset="-120"/>
              </a:rPr>
              <a:t>Perfil</a:t>
            </a:r>
          </a:p>
        </p:txBody>
      </p:sp>
      <p:sp>
        <p:nvSpPr>
          <p:cNvPr id="6" name="Text 2"/>
          <p:cNvSpPr/>
          <p:nvPr/>
        </p:nvSpPr>
        <p:spPr>
          <a:xfrm>
            <a:off x="7671673" y="2478881"/>
            <a:ext cx="6193869" cy="1048703"/>
          </a:xfrm>
          <a:prstGeom prst="rect">
            <a:avLst/>
          </a:prstGeom>
          <a:noFill/>
          <a:ln/>
        </p:spPr>
        <p:txBody>
          <a:bodyPr wrap="square" lIns="0" tIns="0" rIns="0" bIns="0" rtlCol="0" anchor="t"/>
          <a:lstStyle/>
          <a:p>
            <a:pPr marL="0" indent="0" algn="l">
              <a:lnSpc>
                <a:spcPts val="2750"/>
              </a:lnSpc>
              <a:buNone/>
            </a:pPr>
            <a:r>
              <a:rPr lang="ca-ES" sz="1700" dirty="0" smtClean="0">
                <a:solidFill>
                  <a:srgbClr val="DAD1E6"/>
                </a:solidFill>
                <a:latin typeface="Fira Sans" pitchFamily="34" charset="0"/>
                <a:ea typeface="Fira Sans" pitchFamily="34" charset="-122"/>
                <a:cs typeface="Fira Sans" pitchFamily="34" charset="-120"/>
              </a:rPr>
              <a:t>Els nostres clients potencials són empreses de diversos sectors que necessiten gestionar  emergències.</a:t>
            </a:r>
            <a:endParaRPr lang="ca-ES" sz="1700" dirty="0"/>
          </a:p>
        </p:txBody>
      </p:sp>
      <p:pic>
        <p:nvPicPr>
          <p:cNvPr id="7"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251258" y="3746063"/>
            <a:ext cx="1092637" cy="1748195"/>
          </a:xfrm>
          <a:prstGeom prst="rect">
            <a:avLst/>
          </a:prstGeom>
        </p:spPr>
      </p:pic>
      <p:sp>
        <p:nvSpPr>
          <p:cNvPr id="8" name="Text 3"/>
          <p:cNvSpPr/>
          <p:nvPr/>
        </p:nvSpPr>
        <p:spPr>
          <a:xfrm>
            <a:off x="7671673" y="3964543"/>
            <a:ext cx="2731532" cy="341352"/>
          </a:xfrm>
          <a:prstGeom prst="rect">
            <a:avLst/>
          </a:prstGeom>
          <a:noFill/>
          <a:ln/>
        </p:spPr>
        <p:txBody>
          <a:bodyPr wrap="none" lIns="0" tIns="0" rIns="0" bIns="0" rtlCol="0" anchor="t"/>
          <a:lstStyle/>
          <a:p>
            <a:pPr marL="0" indent="0" algn="l">
              <a:lnSpc>
                <a:spcPts val="2650"/>
              </a:lnSpc>
              <a:buNone/>
            </a:pPr>
            <a:r>
              <a:rPr lang="en-US" sz="2100" b="1" dirty="0">
                <a:solidFill>
                  <a:srgbClr val="F94CAF"/>
                </a:solidFill>
                <a:latin typeface="Arial Black" pitchFamily="34" charset="0"/>
                <a:ea typeface="Inconsolata Bold" pitchFamily="34" charset="-122"/>
                <a:cs typeface="Inconsolata Bold" pitchFamily="34" charset="-120"/>
              </a:rPr>
              <a:t>Mercat</a:t>
            </a:r>
          </a:p>
        </p:txBody>
      </p:sp>
      <p:sp>
        <p:nvSpPr>
          <p:cNvPr id="9" name="Text 4"/>
          <p:cNvSpPr/>
          <p:nvPr/>
        </p:nvSpPr>
        <p:spPr>
          <a:xfrm>
            <a:off x="7671673" y="4436983"/>
            <a:ext cx="6193869" cy="699135"/>
          </a:xfrm>
          <a:prstGeom prst="rect">
            <a:avLst/>
          </a:prstGeom>
          <a:noFill/>
          <a:ln/>
        </p:spPr>
        <p:txBody>
          <a:bodyPr wrap="square" lIns="0" tIns="0" rIns="0" bIns="0" rtlCol="0" anchor="t"/>
          <a:lstStyle/>
          <a:p>
            <a:pPr>
              <a:lnSpc>
                <a:spcPts val="2750"/>
              </a:lnSpc>
            </a:pPr>
            <a:r>
              <a:rPr lang="ca-ES" sz="1700" dirty="0" smtClean="0">
                <a:solidFill>
                  <a:srgbClr val="DAD1E6"/>
                </a:solidFill>
                <a:latin typeface="Fira Sans" pitchFamily="34" charset="0"/>
                <a:ea typeface="Fira Sans" pitchFamily="34" charset="-122"/>
                <a:cs typeface="Fira Sans" pitchFamily="34" charset="-120"/>
              </a:rPr>
              <a:t>El nostre mercat objectiu inclou empreses de sectors com l'educació, sanitat. el comerç i la indústria</a:t>
            </a:r>
            <a:r>
              <a:rPr lang="en-US" sz="1700" dirty="0" smtClean="0">
                <a:solidFill>
                  <a:srgbClr val="DAD1E6"/>
                </a:solidFill>
                <a:latin typeface="Fira Sans" pitchFamily="34" charset="0"/>
                <a:ea typeface="Fira Sans" pitchFamily="34" charset="-122"/>
                <a:cs typeface="Fira Sans" pitchFamily="34" charset="-120"/>
              </a:rPr>
              <a:t>.</a:t>
            </a:r>
            <a:endParaRPr lang="en-US" sz="1700" dirty="0"/>
          </a:p>
        </p:txBody>
      </p:sp>
      <p:pic>
        <p:nvPicPr>
          <p:cNvPr id="10"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251258" y="5494258"/>
            <a:ext cx="1092637" cy="1958102"/>
          </a:xfrm>
          <a:prstGeom prst="rect">
            <a:avLst/>
          </a:prstGeom>
        </p:spPr>
      </p:pic>
      <p:sp>
        <p:nvSpPr>
          <p:cNvPr id="11" name="Text 5"/>
          <p:cNvSpPr/>
          <p:nvPr/>
        </p:nvSpPr>
        <p:spPr>
          <a:xfrm>
            <a:off x="7671673" y="5722165"/>
            <a:ext cx="2731532" cy="341352"/>
          </a:xfrm>
          <a:prstGeom prst="rect">
            <a:avLst/>
          </a:prstGeom>
          <a:noFill/>
          <a:ln/>
        </p:spPr>
        <p:txBody>
          <a:bodyPr wrap="none" lIns="0" tIns="0" rIns="0" bIns="0" rtlCol="0" anchor="t"/>
          <a:lstStyle/>
          <a:p>
            <a:pPr marL="0" indent="0" algn="l">
              <a:lnSpc>
                <a:spcPts val="2650"/>
              </a:lnSpc>
              <a:buNone/>
            </a:pPr>
            <a:r>
              <a:rPr lang="en-US" sz="2100" b="1" dirty="0" err="1">
                <a:solidFill>
                  <a:srgbClr val="F94CAF"/>
                </a:solidFill>
                <a:latin typeface="Arial Black" pitchFamily="34" charset="0"/>
                <a:ea typeface="Inconsolata Bold" pitchFamily="34" charset="-122"/>
                <a:cs typeface="Inconsolata Bold" pitchFamily="34" charset="-120"/>
              </a:rPr>
              <a:t>Exemple</a:t>
            </a:r>
            <a:r>
              <a:rPr lang="en-US" sz="2100" b="1" dirty="0">
                <a:solidFill>
                  <a:srgbClr val="F94CAF"/>
                </a:solidFill>
                <a:latin typeface="Arial Black" pitchFamily="34" charset="0"/>
                <a:ea typeface="Inconsolata Bold" pitchFamily="34" charset="-122"/>
                <a:cs typeface="Inconsolata Bold" pitchFamily="34" charset="-120"/>
              </a:rPr>
              <a:t> </a:t>
            </a:r>
            <a:r>
              <a:rPr lang="en-US" sz="2100" b="1" dirty="0" smtClean="0">
                <a:solidFill>
                  <a:srgbClr val="F94CAF"/>
                </a:solidFill>
                <a:latin typeface="Arial Black" pitchFamily="34" charset="0"/>
                <a:ea typeface="Inconsolata Bold" pitchFamily="34" charset="-122"/>
                <a:cs typeface="Inconsolata Bold" pitchFamily="34" charset="-120"/>
              </a:rPr>
              <a:t>de Primer Client</a:t>
            </a:r>
            <a:endParaRPr lang="en-US" sz="2100" b="1" dirty="0">
              <a:solidFill>
                <a:srgbClr val="F94CAF"/>
              </a:solidFill>
              <a:latin typeface="Arial Black" pitchFamily="34" charset="0"/>
              <a:ea typeface="Inconsolata Bold" pitchFamily="34" charset="-122"/>
              <a:cs typeface="Inconsolata Bold" pitchFamily="34" charset="-120"/>
            </a:endParaRPr>
          </a:p>
        </p:txBody>
      </p:sp>
      <p:sp>
        <p:nvSpPr>
          <p:cNvPr id="12" name="Text 6"/>
          <p:cNvSpPr/>
          <p:nvPr/>
        </p:nvSpPr>
        <p:spPr>
          <a:xfrm>
            <a:off x="7671673" y="6185178"/>
            <a:ext cx="6193869" cy="1048703"/>
          </a:xfrm>
          <a:prstGeom prst="rect">
            <a:avLst/>
          </a:prstGeom>
          <a:noFill/>
          <a:ln/>
        </p:spPr>
        <p:txBody>
          <a:bodyPr wrap="square" lIns="0" tIns="0" rIns="0" bIns="0" rtlCol="0" anchor="t"/>
          <a:lstStyle/>
          <a:p>
            <a:pPr>
              <a:lnSpc>
                <a:spcPts val="2750"/>
              </a:lnSpc>
            </a:pPr>
            <a:r>
              <a:rPr lang="en-US" sz="1700" dirty="0">
                <a:solidFill>
                  <a:srgbClr val="DAD1E6"/>
                </a:solidFill>
                <a:latin typeface="Fira Sans" pitchFamily="34" charset="0"/>
                <a:ea typeface="Fira Sans" pitchFamily="34" charset="-122"/>
                <a:cs typeface="Fira Sans" pitchFamily="34" charset="-120"/>
              </a:rPr>
              <a:t>El </a:t>
            </a:r>
            <a:r>
              <a:rPr lang="ca-ES" sz="1700" dirty="0" smtClean="0">
                <a:solidFill>
                  <a:srgbClr val="DAD1E6"/>
                </a:solidFill>
                <a:latin typeface="Fira Sans" pitchFamily="34" charset="0"/>
                <a:ea typeface="Fira Sans" pitchFamily="34" charset="-122"/>
                <a:cs typeface="Fira Sans" pitchFamily="34" charset="-120"/>
              </a:rPr>
              <a:t>primer client podria ser una empresa del sector educatiu que necessita la prevenció i </a:t>
            </a:r>
            <a:r>
              <a:rPr lang="ca-ES" sz="1700" dirty="0">
                <a:solidFill>
                  <a:srgbClr val="DAD1E6"/>
                </a:solidFill>
                <a:latin typeface="Fira Sans" pitchFamily="34" charset="0"/>
                <a:ea typeface="Fira Sans" pitchFamily="34" charset="-122"/>
                <a:cs typeface="Fira Sans" pitchFamily="34" charset="-120"/>
              </a:rPr>
              <a:t>gestió </a:t>
            </a:r>
            <a:r>
              <a:rPr lang="ca-ES" sz="1700" dirty="0" smtClean="0">
                <a:solidFill>
                  <a:srgbClr val="DAD1E6"/>
                </a:solidFill>
                <a:latin typeface="Fira Sans" pitchFamily="34" charset="0"/>
                <a:ea typeface="Fira Sans" pitchFamily="34" charset="-122"/>
                <a:cs typeface="Fira Sans" pitchFamily="34" charset="-120"/>
              </a:rPr>
              <a:t>d'emergències. </a:t>
            </a:r>
            <a:endParaRPr lang="ca-ES" sz="17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144000" y="0"/>
            <a:ext cx="5486400" cy="8229600"/>
          </a:xfrm>
          <a:prstGeom prst="rect">
            <a:avLst/>
          </a:prstGeom>
        </p:spPr>
      </p:pic>
      <p:sp>
        <p:nvSpPr>
          <p:cNvPr id="3" name="Text 0"/>
          <p:cNvSpPr/>
          <p:nvPr/>
        </p:nvSpPr>
        <p:spPr>
          <a:xfrm>
            <a:off x="793790" y="1081207"/>
            <a:ext cx="5670590" cy="708779"/>
          </a:xfrm>
          <a:prstGeom prst="rect">
            <a:avLst/>
          </a:prstGeom>
          <a:noFill/>
          <a:ln/>
        </p:spPr>
        <p:txBody>
          <a:bodyPr wrap="none" lIns="0" tIns="0" rIns="0" bIns="0" rtlCol="0" anchor="t"/>
          <a:lstStyle/>
          <a:p>
            <a:pPr marL="0" indent="0">
              <a:lnSpc>
                <a:spcPts val="5550"/>
              </a:lnSpc>
              <a:buNone/>
            </a:pPr>
            <a:r>
              <a:rPr lang="en-US" sz="4450" b="1" dirty="0" smtClean="0">
                <a:solidFill>
                  <a:srgbClr val="F94CAF"/>
                </a:solidFill>
                <a:latin typeface="Arial Black" pitchFamily="34" charset="0"/>
                <a:ea typeface="Inconsolata Bold" pitchFamily="34" charset="-122"/>
                <a:cs typeface="Inconsolata Bold" pitchFamily="34" charset="-120"/>
              </a:rPr>
              <a:t>Fonts </a:t>
            </a:r>
            <a:r>
              <a:rPr lang="en-US" sz="4450" b="1" dirty="0" err="1" smtClean="0">
                <a:solidFill>
                  <a:srgbClr val="F94CAF"/>
                </a:solidFill>
                <a:latin typeface="Arial Black" pitchFamily="34" charset="0"/>
                <a:ea typeface="Inconsolata Bold" pitchFamily="34" charset="-122"/>
                <a:cs typeface="Inconsolata Bold" pitchFamily="34" charset="-120"/>
              </a:rPr>
              <a:t>d'ingressos</a:t>
            </a:r>
            <a:endParaRPr lang="en-US" sz="4450" dirty="0">
              <a:latin typeface="Arial Black" pitchFamily="34" charset="0"/>
            </a:endParaRPr>
          </a:p>
        </p:txBody>
      </p:sp>
      <p:sp>
        <p:nvSpPr>
          <p:cNvPr id="4" name="Shape 1"/>
          <p:cNvSpPr/>
          <p:nvPr/>
        </p:nvSpPr>
        <p:spPr>
          <a:xfrm>
            <a:off x="793790" y="2130147"/>
            <a:ext cx="3664863" cy="3121462"/>
          </a:xfrm>
          <a:prstGeom prst="roundRect">
            <a:avLst>
              <a:gd name="adj" fmla="val 1090"/>
            </a:avLst>
          </a:prstGeom>
          <a:solidFill>
            <a:srgbClr val="433550"/>
          </a:solidFill>
          <a:ln/>
        </p:spPr>
      </p:sp>
      <p:sp>
        <p:nvSpPr>
          <p:cNvPr id="5" name="Text 2"/>
          <p:cNvSpPr/>
          <p:nvPr/>
        </p:nvSpPr>
        <p:spPr>
          <a:xfrm>
            <a:off x="1020604" y="2356961"/>
            <a:ext cx="2835235" cy="354330"/>
          </a:xfrm>
          <a:prstGeom prst="rect">
            <a:avLst/>
          </a:prstGeom>
          <a:noFill/>
          <a:ln/>
        </p:spPr>
        <p:txBody>
          <a:bodyPr wrap="none" lIns="0" tIns="0" rIns="0" bIns="0" rtlCol="0" anchor="t"/>
          <a:lstStyle/>
          <a:p>
            <a:pPr marL="0" indent="0">
              <a:lnSpc>
                <a:spcPts val="2750"/>
              </a:lnSpc>
              <a:buNone/>
            </a:pPr>
            <a:r>
              <a:rPr lang="en-US" sz="2200" b="1" dirty="0">
                <a:solidFill>
                  <a:srgbClr val="DAD1E6"/>
                </a:solidFill>
                <a:latin typeface="Arial Black" panose="020B0A04020102020204" pitchFamily="34" charset="0"/>
                <a:ea typeface="Inconsolata Bold" pitchFamily="34" charset="-122"/>
                <a:cs typeface="Inconsolata Bold" pitchFamily="34" charset="-120"/>
              </a:rPr>
              <a:t>Subscripcions</a:t>
            </a:r>
            <a:endParaRPr lang="en-US" sz="2200" dirty="0">
              <a:latin typeface="Arial Black" panose="020B0A04020102020204" pitchFamily="34" charset="0"/>
            </a:endParaRPr>
          </a:p>
        </p:txBody>
      </p:sp>
      <p:sp>
        <p:nvSpPr>
          <p:cNvPr id="6" name="Text 3"/>
          <p:cNvSpPr/>
          <p:nvPr/>
        </p:nvSpPr>
        <p:spPr>
          <a:xfrm>
            <a:off x="1020604" y="2847380"/>
            <a:ext cx="3211235" cy="2177415"/>
          </a:xfrm>
          <a:prstGeom prst="rect">
            <a:avLst/>
          </a:prstGeom>
          <a:noFill/>
          <a:ln/>
        </p:spPr>
        <p:txBody>
          <a:bodyPr wrap="square" lIns="0" tIns="0" rIns="0" bIns="0" rtlCol="0" anchor="t"/>
          <a:lstStyle/>
          <a:p>
            <a:pPr marL="0" indent="0">
              <a:lnSpc>
                <a:spcPts val="2850"/>
              </a:lnSpc>
              <a:buNone/>
            </a:pPr>
            <a:r>
              <a:rPr lang="en-US" sz="1750" dirty="0">
                <a:solidFill>
                  <a:srgbClr val="DAD1E6"/>
                </a:solidFill>
                <a:latin typeface="Fira Sans" pitchFamily="34" charset="0"/>
                <a:ea typeface="Fira Sans" pitchFamily="34" charset="-122"/>
                <a:cs typeface="Fira Sans" pitchFamily="34" charset="-120"/>
              </a:rPr>
              <a:t>Oferirem plans mensuals o anuals amb funcionalitats premium, com ara accés a dades exclusives, anàlisis personalitzades i eines avançades.</a:t>
            </a:r>
            <a:endParaRPr lang="en-US" sz="1750" dirty="0"/>
          </a:p>
        </p:txBody>
      </p:sp>
      <p:sp>
        <p:nvSpPr>
          <p:cNvPr id="7" name="Shape 4"/>
          <p:cNvSpPr/>
          <p:nvPr/>
        </p:nvSpPr>
        <p:spPr>
          <a:xfrm>
            <a:off x="4685467" y="2130147"/>
            <a:ext cx="3664863" cy="3121462"/>
          </a:xfrm>
          <a:prstGeom prst="roundRect">
            <a:avLst>
              <a:gd name="adj" fmla="val 1090"/>
            </a:avLst>
          </a:prstGeom>
          <a:solidFill>
            <a:srgbClr val="433550"/>
          </a:solidFill>
          <a:ln/>
        </p:spPr>
      </p:sp>
      <p:sp>
        <p:nvSpPr>
          <p:cNvPr id="8" name="Text 5"/>
          <p:cNvSpPr/>
          <p:nvPr/>
        </p:nvSpPr>
        <p:spPr>
          <a:xfrm>
            <a:off x="4912281" y="2356961"/>
            <a:ext cx="2835235" cy="354330"/>
          </a:xfrm>
          <a:prstGeom prst="rect">
            <a:avLst/>
          </a:prstGeom>
          <a:noFill/>
          <a:ln/>
        </p:spPr>
        <p:txBody>
          <a:bodyPr wrap="none" lIns="0" tIns="0" rIns="0" bIns="0" rtlCol="0" anchor="t"/>
          <a:lstStyle/>
          <a:p>
            <a:pPr marL="0" indent="0">
              <a:lnSpc>
                <a:spcPts val="2750"/>
              </a:lnSpc>
              <a:buNone/>
            </a:pPr>
            <a:r>
              <a:rPr lang="en-US" sz="2200" b="1" dirty="0">
                <a:solidFill>
                  <a:srgbClr val="DAD1E6"/>
                </a:solidFill>
                <a:latin typeface="Arial Black" panose="020B0A04020102020204" pitchFamily="34" charset="0"/>
                <a:ea typeface="Inconsolata Bold" pitchFamily="34" charset="-122"/>
                <a:cs typeface="Inconsolata Bold" pitchFamily="34" charset="-120"/>
              </a:rPr>
              <a:t>Publicitat</a:t>
            </a:r>
          </a:p>
        </p:txBody>
      </p:sp>
      <p:sp>
        <p:nvSpPr>
          <p:cNvPr id="9" name="Text 6"/>
          <p:cNvSpPr/>
          <p:nvPr/>
        </p:nvSpPr>
        <p:spPr>
          <a:xfrm>
            <a:off x="4912281" y="2847380"/>
            <a:ext cx="3211235" cy="2177415"/>
          </a:xfrm>
          <a:prstGeom prst="rect">
            <a:avLst/>
          </a:prstGeom>
          <a:noFill/>
          <a:ln/>
        </p:spPr>
        <p:txBody>
          <a:bodyPr wrap="square" lIns="0" tIns="0" rIns="0" bIns="0" rtlCol="0" anchor="t"/>
          <a:lstStyle/>
          <a:p>
            <a:pPr marL="0" indent="0">
              <a:lnSpc>
                <a:spcPts val="2850"/>
              </a:lnSpc>
              <a:buNone/>
            </a:pPr>
            <a:r>
              <a:rPr lang="en-US" sz="1750" dirty="0">
                <a:solidFill>
                  <a:srgbClr val="DAD1E6"/>
                </a:solidFill>
                <a:latin typeface="Fira Sans" pitchFamily="34" charset="0"/>
                <a:ea typeface="Fira Sans" pitchFamily="34" charset="-122"/>
                <a:cs typeface="Fira Sans" pitchFamily="34" charset="-120"/>
              </a:rPr>
              <a:t>Integrarem espais publicitaris estratègicament a la plataforma, oferint oportunitats a les empreses per a arribar al nostre públic objectiu.</a:t>
            </a:r>
            <a:endParaRPr lang="en-US" sz="1750" dirty="0"/>
          </a:p>
        </p:txBody>
      </p:sp>
      <p:sp>
        <p:nvSpPr>
          <p:cNvPr id="10" name="Shape 7"/>
          <p:cNvSpPr/>
          <p:nvPr/>
        </p:nvSpPr>
        <p:spPr>
          <a:xfrm>
            <a:off x="793790" y="5478423"/>
            <a:ext cx="7556421" cy="1669852"/>
          </a:xfrm>
          <a:prstGeom prst="roundRect">
            <a:avLst>
              <a:gd name="adj" fmla="val 2038"/>
            </a:avLst>
          </a:prstGeom>
          <a:solidFill>
            <a:srgbClr val="433550"/>
          </a:solidFill>
          <a:ln/>
        </p:spPr>
      </p:sp>
      <p:sp>
        <p:nvSpPr>
          <p:cNvPr id="11" name="Text 8"/>
          <p:cNvSpPr/>
          <p:nvPr/>
        </p:nvSpPr>
        <p:spPr>
          <a:xfrm>
            <a:off x="1020604" y="5705237"/>
            <a:ext cx="2835235" cy="354330"/>
          </a:xfrm>
          <a:prstGeom prst="rect">
            <a:avLst/>
          </a:prstGeom>
          <a:noFill/>
          <a:ln/>
        </p:spPr>
        <p:txBody>
          <a:bodyPr wrap="none" lIns="0" tIns="0" rIns="0" bIns="0" rtlCol="0" anchor="t"/>
          <a:lstStyle/>
          <a:p>
            <a:pPr marL="0" indent="0">
              <a:lnSpc>
                <a:spcPts val="2750"/>
              </a:lnSpc>
              <a:buNone/>
            </a:pPr>
            <a:r>
              <a:rPr lang="en-US" sz="2200" b="1" dirty="0" smtClean="0">
                <a:solidFill>
                  <a:srgbClr val="DAD1E6"/>
                </a:solidFill>
                <a:latin typeface="Arial Black" panose="020B0A04020102020204" pitchFamily="34" charset="0"/>
                <a:ea typeface="Inconsolata Bold" pitchFamily="34" charset="-122"/>
                <a:cs typeface="Inconsolata Bold" pitchFamily="34" charset="-120"/>
              </a:rPr>
              <a:t>SaaS</a:t>
            </a:r>
            <a:endParaRPr lang="en-US" sz="2200" b="1" dirty="0">
              <a:solidFill>
                <a:srgbClr val="DAD1E6"/>
              </a:solidFill>
              <a:latin typeface="Arial Black" panose="020B0A04020102020204" pitchFamily="34" charset="0"/>
              <a:ea typeface="Inconsolata Bold" pitchFamily="34" charset="-122"/>
              <a:cs typeface="Inconsolata Bold" pitchFamily="34" charset="-120"/>
            </a:endParaRPr>
          </a:p>
        </p:txBody>
      </p:sp>
      <p:sp>
        <p:nvSpPr>
          <p:cNvPr id="12" name="Text 9"/>
          <p:cNvSpPr/>
          <p:nvPr/>
        </p:nvSpPr>
        <p:spPr>
          <a:xfrm>
            <a:off x="1020604" y="6195655"/>
            <a:ext cx="7102793" cy="725805"/>
          </a:xfrm>
          <a:prstGeom prst="rect">
            <a:avLst/>
          </a:prstGeom>
          <a:noFill/>
          <a:ln/>
        </p:spPr>
        <p:txBody>
          <a:bodyPr wrap="square" lIns="0" tIns="0" rIns="0" bIns="0" rtlCol="0" anchor="t"/>
          <a:lstStyle/>
          <a:p>
            <a:pPr marL="0" indent="0">
              <a:lnSpc>
                <a:spcPts val="2850"/>
              </a:lnSpc>
              <a:buNone/>
            </a:pPr>
            <a:r>
              <a:rPr lang="ca-ES" sz="1750" dirty="0" smtClean="0">
                <a:solidFill>
                  <a:srgbClr val="DAD1E6"/>
                </a:solidFill>
                <a:latin typeface="Fira Sans" pitchFamily="34" charset="0"/>
                <a:ea typeface="Fira Sans" pitchFamily="34" charset="-122"/>
                <a:cs typeface="Fira Sans" pitchFamily="34" charset="-120"/>
              </a:rPr>
              <a:t>Software as a Service, generarem ingressos per la gestió de l'aplicació ne funció de l'ús realitzat a través d’una plataforma.</a:t>
            </a:r>
            <a:endParaRPr lang="ca-ES" sz="175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4630400" cy="2340054"/>
          </a:xfrm>
          <a:prstGeom prst="rect">
            <a:avLst/>
          </a:prstGeom>
        </p:spPr>
      </p:pic>
      <p:sp>
        <p:nvSpPr>
          <p:cNvPr id="3" name="Text 0"/>
          <p:cNvSpPr/>
          <p:nvPr/>
        </p:nvSpPr>
        <p:spPr>
          <a:xfrm>
            <a:off x="655201" y="2856309"/>
            <a:ext cx="6082903" cy="584954"/>
          </a:xfrm>
          <a:prstGeom prst="rect">
            <a:avLst/>
          </a:prstGeom>
          <a:noFill/>
          <a:ln/>
        </p:spPr>
        <p:txBody>
          <a:bodyPr wrap="none" lIns="0" tIns="0" rIns="0" bIns="0" rtlCol="0" anchor="t"/>
          <a:lstStyle/>
          <a:p>
            <a:pPr marL="0" indent="0">
              <a:lnSpc>
                <a:spcPts val="4600"/>
              </a:lnSpc>
              <a:buNone/>
            </a:pPr>
            <a:r>
              <a:rPr lang="ca-ES" sz="3650" b="1" dirty="0" smtClean="0">
                <a:solidFill>
                  <a:srgbClr val="F94CAF"/>
                </a:solidFill>
                <a:latin typeface="Arial Black" panose="020B0A04020102020204" pitchFamily="34" charset="0"/>
                <a:ea typeface="Inconsolata Bold" pitchFamily="34" charset="-122"/>
                <a:cs typeface="Inconsolata Bold" pitchFamily="34" charset="-120"/>
              </a:rPr>
              <a:t>Estratègia de monetització</a:t>
            </a:r>
            <a:r>
              <a:rPr lang="en-US" sz="3650" b="1" dirty="0" smtClean="0">
                <a:solidFill>
                  <a:srgbClr val="F94CAF"/>
                </a:solidFill>
                <a:latin typeface="Arial Black" panose="020B0A04020102020204" pitchFamily="34" charset="0"/>
                <a:ea typeface="Inconsolata Bold" pitchFamily="34" charset="-122"/>
                <a:cs typeface="Inconsolata Bold" pitchFamily="34" charset="-120"/>
              </a:rPr>
              <a:t>:  </a:t>
            </a:r>
            <a:r>
              <a:rPr lang="en-US" sz="3200" b="1" u="sng" dirty="0" smtClean="0">
                <a:solidFill>
                  <a:schemeClr val="bg1"/>
                </a:solidFill>
                <a:latin typeface="Arial Black" panose="020B0A04020102020204" pitchFamily="34" charset="0"/>
                <a:ea typeface="Inconsolata Bold" pitchFamily="34" charset="-122"/>
                <a:cs typeface="Inconsolata Bold" pitchFamily="34" charset="-120"/>
              </a:rPr>
              <a:t>Primer Client</a:t>
            </a:r>
            <a:endParaRPr lang="en-US" sz="3200" u="sng" dirty="0">
              <a:solidFill>
                <a:schemeClr val="bg1"/>
              </a:solidFill>
              <a:latin typeface="Arial Black" panose="020B0A04020102020204" pitchFamily="34" charset="0"/>
            </a:endParaRPr>
          </a:p>
        </p:txBody>
      </p:sp>
      <p:sp>
        <p:nvSpPr>
          <p:cNvPr id="4" name="Shape 1"/>
          <p:cNvSpPr/>
          <p:nvPr/>
        </p:nvSpPr>
        <p:spPr>
          <a:xfrm>
            <a:off x="655201" y="5567958"/>
            <a:ext cx="13319998" cy="22860"/>
          </a:xfrm>
          <a:prstGeom prst="roundRect">
            <a:avLst>
              <a:gd name="adj" fmla="val 122840"/>
            </a:avLst>
          </a:prstGeom>
          <a:solidFill>
            <a:srgbClr val="5C4E69"/>
          </a:solidFill>
          <a:ln/>
        </p:spPr>
      </p:sp>
      <p:sp>
        <p:nvSpPr>
          <p:cNvPr id="5" name="Shape 2"/>
          <p:cNvSpPr/>
          <p:nvPr/>
        </p:nvSpPr>
        <p:spPr>
          <a:xfrm>
            <a:off x="3926800" y="4912816"/>
            <a:ext cx="22860" cy="655201"/>
          </a:xfrm>
          <a:prstGeom prst="roundRect">
            <a:avLst>
              <a:gd name="adj" fmla="val 122840"/>
            </a:avLst>
          </a:prstGeom>
          <a:solidFill>
            <a:srgbClr val="5C4E69"/>
          </a:solidFill>
          <a:ln/>
        </p:spPr>
      </p:sp>
      <p:sp>
        <p:nvSpPr>
          <p:cNvPr id="6" name="Shape 3"/>
          <p:cNvSpPr/>
          <p:nvPr/>
        </p:nvSpPr>
        <p:spPr>
          <a:xfrm>
            <a:off x="3727728" y="5357396"/>
            <a:ext cx="421124" cy="421124"/>
          </a:xfrm>
          <a:prstGeom prst="roundRect">
            <a:avLst>
              <a:gd name="adj" fmla="val 6668"/>
            </a:avLst>
          </a:prstGeom>
          <a:solidFill>
            <a:srgbClr val="433550"/>
          </a:solidFill>
          <a:ln/>
        </p:spPr>
      </p:sp>
      <p:sp>
        <p:nvSpPr>
          <p:cNvPr id="7" name="Text 4"/>
          <p:cNvSpPr/>
          <p:nvPr/>
        </p:nvSpPr>
        <p:spPr>
          <a:xfrm>
            <a:off x="3867983" y="5427524"/>
            <a:ext cx="140494" cy="280868"/>
          </a:xfrm>
          <a:prstGeom prst="rect">
            <a:avLst/>
          </a:prstGeom>
          <a:noFill/>
          <a:ln/>
        </p:spPr>
        <p:txBody>
          <a:bodyPr wrap="none" lIns="0" tIns="0" rIns="0" bIns="0" rtlCol="0" anchor="t"/>
          <a:lstStyle/>
          <a:p>
            <a:pPr marL="0" indent="0" algn="ctr">
              <a:lnSpc>
                <a:spcPts val="2200"/>
              </a:lnSpc>
              <a:buNone/>
            </a:pPr>
            <a:r>
              <a:rPr lang="en-US" sz="2200" b="1" dirty="0">
                <a:solidFill>
                  <a:srgbClr val="DAD1E6"/>
                </a:solidFill>
                <a:latin typeface="Inconsolata Bold" pitchFamily="34" charset="0"/>
                <a:ea typeface="Inconsolata Bold" pitchFamily="34" charset="-122"/>
                <a:cs typeface="Inconsolata Bold" pitchFamily="34" charset="-120"/>
              </a:rPr>
              <a:t>1</a:t>
            </a:r>
            <a:endParaRPr lang="en-US" sz="2200" dirty="0"/>
          </a:p>
        </p:txBody>
      </p:sp>
      <p:sp>
        <p:nvSpPr>
          <p:cNvPr id="8" name="Text 5"/>
          <p:cNvSpPr/>
          <p:nvPr/>
        </p:nvSpPr>
        <p:spPr>
          <a:xfrm>
            <a:off x="2768322" y="3722013"/>
            <a:ext cx="2340054" cy="292418"/>
          </a:xfrm>
          <a:prstGeom prst="rect">
            <a:avLst/>
          </a:prstGeom>
          <a:noFill/>
          <a:ln/>
        </p:spPr>
        <p:txBody>
          <a:bodyPr wrap="none" lIns="0" tIns="0" rIns="0" bIns="0" rtlCol="0" anchor="t"/>
          <a:lstStyle/>
          <a:p>
            <a:pPr marL="0" indent="0" algn="ctr">
              <a:lnSpc>
                <a:spcPts val="2300"/>
              </a:lnSpc>
              <a:buNone/>
            </a:pPr>
            <a:r>
              <a:rPr lang="en-US" sz="1800" b="1" dirty="0">
                <a:solidFill>
                  <a:srgbClr val="DAD1E6"/>
                </a:solidFill>
                <a:latin typeface="Arial Black" panose="020B0A04020102020204" pitchFamily="34" charset="0"/>
                <a:ea typeface="Inconsolata Bold" pitchFamily="34" charset="-122"/>
                <a:cs typeface="Inconsolata Bold" pitchFamily="34" charset="-120"/>
              </a:rPr>
              <a:t>Gratuït vs. Premium</a:t>
            </a:r>
            <a:endParaRPr lang="en-US" sz="1800" dirty="0">
              <a:latin typeface="Arial Black" panose="020B0A04020102020204" pitchFamily="34" charset="0"/>
            </a:endParaRPr>
          </a:p>
        </p:txBody>
      </p:sp>
      <p:sp>
        <p:nvSpPr>
          <p:cNvPr id="9" name="Text 6"/>
          <p:cNvSpPr/>
          <p:nvPr/>
        </p:nvSpPr>
        <p:spPr>
          <a:xfrm>
            <a:off x="842367" y="4126706"/>
            <a:ext cx="6192083" cy="598884"/>
          </a:xfrm>
          <a:prstGeom prst="rect">
            <a:avLst/>
          </a:prstGeom>
          <a:noFill/>
          <a:ln/>
        </p:spPr>
        <p:txBody>
          <a:bodyPr wrap="square" lIns="0" tIns="0" rIns="0" bIns="0" rtlCol="0" anchor="t"/>
          <a:lstStyle/>
          <a:p>
            <a:pPr algn="ctr">
              <a:lnSpc>
                <a:spcPts val="2350"/>
              </a:lnSpc>
            </a:pPr>
            <a:r>
              <a:rPr lang="en-US" sz="1450" dirty="0">
                <a:solidFill>
                  <a:srgbClr val="DAD1E6"/>
                </a:solidFill>
                <a:latin typeface="Arial" panose="020B0604020202020204" pitchFamily="34" charset="0"/>
                <a:ea typeface="Fira Sans" pitchFamily="34" charset="-122"/>
                <a:cs typeface="Arial" panose="020B0604020202020204" pitchFamily="34" charset="0"/>
              </a:rPr>
              <a:t>Oferirem un pla gratuït amb funcionalitats bàsiques i un pla premium amb opcions avançades per a una experiència completa.</a:t>
            </a:r>
          </a:p>
        </p:txBody>
      </p:sp>
      <p:sp>
        <p:nvSpPr>
          <p:cNvPr id="10" name="Shape 7"/>
          <p:cNvSpPr/>
          <p:nvPr/>
        </p:nvSpPr>
        <p:spPr>
          <a:xfrm>
            <a:off x="7303532" y="5567898"/>
            <a:ext cx="22860" cy="655201"/>
          </a:xfrm>
          <a:prstGeom prst="roundRect">
            <a:avLst>
              <a:gd name="adj" fmla="val 122840"/>
            </a:avLst>
          </a:prstGeom>
          <a:solidFill>
            <a:srgbClr val="5C4E69"/>
          </a:solidFill>
          <a:ln/>
        </p:spPr>
      </p:sp>
      <p:sp>
        <p:nvSpPr>
          <p:cNvPr id="11" name="Shape 8"/>
          <p:cNvSpPr/>
          <p:nvPr/>
        </p:nvSpPr>
        <p:spPr>
          <a:xfrm>
            <a:off x="7104459" y="5357396"/>
            <a:ext cx="421124" cy="421124"/>
          </a:xfrm>
          <a:prstGeom prst="roundRect">
            <a:avLst>
              <a:gd name="adj" fmla="val 6668"/>
            </a:avLst>
          </a:prstGeom>
          <a:solidFill>
            <a:srgbClr val="433550"/>
          </a:solidFill>
          <a:ln/>
        </p:spPr>
      </p:sp>
      <p:sp>
        <p:nvSpPr>
          <p:cNvPr id="12" name="Text 9"/>
          <p:cNvSpPr/>
          <p:nvPr/>
        </p:nvSpPr>
        <p:spPr>
          <a:xfrm>
            <a:off x="7244715" y="5427524"/>
            <a:ext cx="140494" cy="280868"/>
          </a:xfrm>
          <a:prstGeom prst="rect">
            <a:avLst/>
          </a:prstGeom>
          <a:noFill/>
          <a:ln/>
        </p:spPr>
        <p:txBody>
          <a:bodyPr wrap="none" lIns="0" tIns="0" rIns="0" bIns="0" rtlCol="0" anchor="t"/>
          <a:lstStyle/>
          <a:p>
            <a:pPr marL="0" indent="0" algn="ctr">
              <a:lnSpc>
                <a:spcPts val="2200"/>
              </a:lnSpc>
              <a:buNone/>
            </a:pPr>
            <a:r>
              <a:rPr lang="en-US" sz="2200" b="1" dirty="0">
                <a:solidFill>
                  <a:srgbClr val="DAD1E6"/>
                </a:solidFill>
                <a:latin typeface="Inconsolata Bold" pitchFamily="34" charset="0"/>
                <a:ea typeface="Inconsolata Bold" pitchFamily="34" charset="-122"/>
                <a:cs typeface="Inconsolata Bold" pitchFamily="34" charset="-120"/>
              </a:rPr>
              <a:t>2</a:t>
            </a:r>
            <a:endParaRPr lang="en-US" sz="2200" dirty="0"/>
          </a:p>
        </p:txBody>
      </p:sp>
      <p:sp>
        <p:nvSpPr>
          <p:cNvPr id="13" name="Text 10"/>
          <p:cNvSpPr/>
          <p:nvPr/>
        </p:nvSpPr>
        <p:spPr>
          <a:xfrm>
            <a:off x="6145054" y="6410325"/>
            <a:ext cx="2340054" cy="292418"/>
          </a:xfrm>
          <a:prstGeom prst="rect">
            <a:avLst/>
          </a:prstGeom>
          <a:noFill/>
          <a:ln/>
        </p:spPr>
        <p:txBody>
          <a:bodyPr wrap="none" lIns="0" tIns="0" rIns="0" bIns="0" rtlCol="0" anchor="t"/>
          <a:lstStyle/>
          <a:p>
            <a:pPr marL="0" indent="0" algn="ctr">
              <a:lnSpc>
                <a:spcPts val="2300"/>
              </a:lnSpc>
              <a:buNone/>
            </a:pPr>
            <a:r>
              <a:rPr lang="en-US" b="1" dirty="0">
                <a:solidFill>
                  <a:srgbClr val="DAD1E6"/>
                </a:solidFill>
                <a:latin typeface="Arial Black" panose="020B0A04020102020204" pitchFamily="34" charset="0"/>
                <a:ea typeface="Inconsolata Bold" pitchFamily="34" charset="-122"/>
                <a:cs typeface="Inconsolata Bold" pitchFamily="34" charset="-120"/>
              </a:rPr>
              <a:t>Marketplace</a:t>
            </a:r>
          </a:p>
        </p:txBody>
      </p:sp>
      <p:sp>
        <p:nvSpPr>
          <p:cNvPr id="14" name="Text 11"/>
          <p:cNvSpPr/>
          <p:nvPr/>
        </p:nvSpPr>
        <p:spPr>
          <a:xfrm>
            <a:off x="4219099" y="6815018"/>
            <a:ext cx="7225041" cy="898327"/>
          </a:xfrm>
          <a:prstGeom prst="rect">
            <a:avLst/>
          </a:prstGeom>
          <a:noFill/>
          <a:ln/>
        </p:spPr>
        <p:txBody>
          <a:bodyPr wrap="square" lIns="0" tIns="0" rIns="0" bIns="0" rtlCol="0" anchor="t"/>
          <a:lstStyle/>
          <a:p>
            <a:pPr indent="0" algn="ctr">
              <a:lnSpc>
                <a:spcPts val="2350"/>
              </a:lnSpc>
              <a:buNone/>
            </a:pPr>
            <a:r>
              <a:rPr lang="ca-ES" sz="1450" dirty="0" smtClean="0">
                <a:solidFill>
                  <a:srgbClr val="DAD1E6"/>
                </a:solidFill>
                <a:latin typeface="Arial" panose="020B0604020202020204" pitchFamily="34" charset="0"/>
                <a:ea typeface="Fira Sans" pitchFamily="34" charset="-122"/>
                <a:cs typeface="Arial" panose="020B0604020202020204" pitchFamily="34" charset="0"/>
              </a:rPr>
              <a:t>Ens integrarem en diferents </a:t>
            </a:r>
            <a:r>
              <a:rPr lang="ca-ES" sz="1450" dirty="0" err="1" smtClean="0">
                <a:solidFill>
                  <a:srgbClr val="DAD1E6"/>
                </a:solidFill>
                <a:latin typeface="Arial" panose="020B0604020202020204" pitchFamily="34" charset="0"/>
                <a:ea typeface="Fira Sans" pitchFamily="34" charset="-122"/>
                <a:cs typeface="Arial" panose="020B0604020202020204" pitchFamily="34" charset="0"/>
              </a:rPr>
              <a:t>marketplaces</a:t>
            </a:r>
            <a:r>
              <a:rPr lang="ca-ES" sz="1450" dirty="0" smtClean="0">
                <a:solidFill>
                  <a:srgbClr val="DAD1E6"/>
                </a:solidFill>
                <a:latin typeface="Arial" panose="020B0604020202020204" pitchFamily="34" charset="0"/>
                <a:ea typeface="Fira Sans" pitchFamily="34" charset="-122"/>
                <a:cs typeface="Arial" panose="020B0604020202020204" pitchFamily="34" charset="0"/>
              </a:rPr>
              <a:t> on els usuaris podran  baixar l'aplicació, generant ingressos per a la plataforma.</a:t>
            </a:r>
            <a:endParaRPr lang="ca-ES" sz="1450" dirty="0">
              <a:solidFill>
                <a:srgbClr val="DAD1E6"/>
              </a:solidFill>
              <a:latin typeface="Arial" panose="020B0604020202020204" pitchFamily="34" charset="0"/>
              <a:ea typeface="Fira Sans" pitchFamily="34" charset="-122"/>
              <a:cs typeface="Arial" panose="020B0604020202020204" pitchFamily="34" charset="0"/>
            </a:endParaRPr>
          </a:p>
        </p:txBody>
      </p:sp>
      <p:sp>
        <p:nvSpPr>
          <p:cNvPr id="15" name="Shape 12"/>
          <p:cNvSpPr/>
          <p:nvPr/>
        </p:nvSpPr>
        <p:spPr>
          <a:xfrm>
            <a:off x="10680383" y="4912816"/>
            <a:ext cx="22860" cy="655201"/>
          </a:xfrm>
          <a:prstGeom prst="roundRect">
            <a:avLst>
              <a:gd name="adj" fmla="val 122840"/>
            </a:avLst>
          </a:prstGeom>
          <a:solidFill>
            <a:srgbClr val="5C4E69"/>
          </a:solidFill>
          <a:ln/>
        </p:spPr>
      </p:sp>
      <p:sp>
        <p:nvSpPr>
          <p:cNvPr id="16" name="Shape 13"/>
          <p:cNvSpPr/>
          <p:nvPr/>
        </p:nvSpPr>
        <p:spPr>
          <a:xfrm>
            <a:off x="10481310" y="5357396"/>
            <a:ext cx="421124" cy="421124"/>
          </a:xfrm>
          <a:prstGeom prst="roundRect">
            <a:avLst>
              <a:gd name="adj" fmla="val 6668"/>
            </a:avLst>
          </a:prstGeom>
          <a:solidFill>
            <a:srgbClr val="433550"/>
          </a:solidFill>
          <a:ln/>
        </p:spPr>
      </p:sp>
      <p:sp>
        <p:nvSpPr>
          <p:cNvPr id="17" name="Text 14"/>
          <p:cNvSpPr/>
          <p:nvPr/>
        </p:nvSpPr>
        <p:spPr>
          <a:xfrm>
            <a:off x="10621566" y="5427524"/>
            <a:ext cx="140494" cy="280868"/>
          </a:xfrm>
          <a:prstGeom prst="rect">
            <a:avLst/>
          </a:prstGeom>
          <a:noFill/>
          <a:ln/>
        </p:spPr>
        <p:txBody>
          <a:bodyPr wrap="none" lIns="0" tIns="0" rIns="0" bIns="0" rtlCol="0" anchor="t"/>
          <a:lstStyle/>
          <a:p>
            <a:pPr marL="0" indent="0" algn="ctr">
              <a:lnSpc>
                <a:spcPts val="2200"/>
              </a:lnSpc>
              <a:buNone/>
            </a:pPr>
            <a:r>
              <a:rPr lang="en-US" sz="2200" b="1" dirty="0">
                <a:solidFill>
                  <a:srgbClr val="DAD1E6"/>
                </a:solidFill>
                <a:latin typeface="Inconsolata Bold" pitchFamily="34" charset="0"/>
                <a:ea typeface="Inconsolata Bold" pitchFamily="34" charset="-122"/>
                <a:cs typeface="Inconsolata Bold" pitchFamily="34" charset="-120"/>
              </a:rPr>
              <a:t>3</a:t>
            </a:r>
            <a:endParaRPr lang="en-US" sz="2200" dirty="0"/>
          </a:p>
        </p:txBody>
      </p:sp>
      <p:sp>
        <p:nvSpPr>
          <p:cNvPr id="18" name="Text 15"/>
          <p:cNvSpPr/>
          <p:nvPr/>
        </p:nvSpPr>
        <p:spPr>
          <a:xfrm>
            <a:off x="9521904" y="3722013"/>
            <a:ext cx="2340054" cy="292418"/>
          </a:xfrm>
          <a:prstGeom prst="rect">
            <a:avLst/>
          </a:prstGeom>
          <a:noFill/>
          <a:ln/>
        </p:spPr>
        <p:txBody>
          <a:bodyPr wrap="none" lIns="0" tIns="0" rIns="0" bIns="0" rtlCol="0" anchor="t"/>
          <a:lstStyle/>
          <a:p>
            <a:pPr marL="0" indent="0" algn="ctr">
              <a:lnSpc>
                <a:spcPts val="2300"/>
              </a:lnSpc>
              <a:buNone/>
            </a:pPr>
            <a:r>
              <a:rPr lang="en-US" b="1" dirty="0">
                <a:solidFill>
                  <a:srgbClr val="DAD1E6"/>
                </a:solidFill>
                <a:latin typeface="Arial Black" panose="020B0A04020102020204" pitchFamily="34" charset="0"/>
                <a:ea typeface="Inconsolata Bold" pitchFamily="34" charset="-122"/>
                <a:cs typeface="Inconsolata Bold" pitchFamily="34" charset="-120"/>
              </a:rPr>
              <a:t>Aliances</a:t>
            </a:r>
          </a:p>
        </p:txBody>
      </p:sp>
      <p:sp>
        <p:nvSpPr>
          <p:cNvPr id="19" name="Text 16"/>
          <p:cNvSpPr/>
          <p:nvPr/>
        </p:nvSpPr>
        <p:spPr>
          <a:xfrm>
            <a:off x="7595949" y="4126706"/>
            <a:ext cx="6591391" cy="598884"/>
          </a:xfrm>
          <a:prstGeom prst="rect">
            <a:avLst/>
          </a:prstGeom>
          <a:noFill/>
          <a:ln/>
        </p:spPr>
        <p:txBody>
          <a:bodyPr wrap="square" lIns="0" tIns="0" rIns="0" bIns="0" rtlCol="0" anchor="t"/>
          <a:lstStyle/>
          <a:p>
            <a:pPr marL="0" indent="0" algn="ctr">
              <a:lnSpc>
                <a:spcPts val="2350"/>
              </a:lnSpc>
              <a:buNone/>
            </a:pPr>
            <a:r>
              <a:rPr lang="ca-ES" sz="1450" dirty="0" smtClean="0">
                <a:solidFill>
                  <a:srgbClr val="DAD1E6"/>
                </a:solidFill>
                <a:latin typeface="Arial" panose="020B0604020202020204" pitchFamily="34" charset="0"/>
                <a:ea typeface="Fira Sans" pitchFamily="34" charset="-122"/>
                <a:cs typeface="Arial" panose="020B0604020202020204" pitchFamily="34" charset="0"/>
              </a:rPr>
              <a:t>Establirem aliances amb administracions publiques ( (Generalitat), empreses del sector, oferint serveis integrats i ampliant el nostre abast al mercat.</a:t>
            </a:r>
            <a:endParaRPr lang="ca-ES" sz="145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4630400" cy="2719507"/>
          </a:xfrm>
          <a:prstGeom prst="rect">
            <a:avLst/>
          </a:prstGeom>
        </p:spPr>
      </p:pic>
      <p:sp>
        <p:nvSpPr>
          <p:cNvPr id="3" name="Text 0"/>
          <p:cNvSpPr/>
          <p:nvPr/>
        </p:nvSpPr>
        <p:spPr>
          <a:xfrm>
            <a:off x="761405" y="3491032"/>
            <a:ext cx="5439013" cy="679847"/>
          </a:xfrm>
          <a:prstGeom prst="rect">
            <a:avLst/>
          </a:prstGeom>
          <a:noFill/>
          <a:ln/>
        </p:spPr>
        <p:txBody>
          <a:bodyPr wrap="none" lIns="0" tIns="0" rIns="0" bIns="0" rtlCol="0" anchor="t"/>
          <a:lstStyle/>
          <a:p>
            <a:pPr marL="0" indent="0">
              <a:lnSpc>
                <a:spcPts val="5350"/>
              </a:lnSpc>
              <a:buNone/>
            </a:pPr>
            <a:r>
              <a:rPr lang="ca-ES" sz="4250" b="1" dirty="0" smtClean="0">
                <a:solidFill>
                  <a:schemeClr val="accent5">
                    <a:lumMod val="60000"/>
                    <a:lumOff val="40000"/>
                  </a:schemeClr>
                </a:solidFill>
                <a:latin typeface="Arial Black" panose="020B0A04020102020204" pitchFamily="34" charset="0"/>
                <a:ea typeface="Inconsolata Bold" pitchFamily="34" charset="-122"/>
                <a:cs typeface="Inconsolata Bold" pitchFamily="34" charset="-120"/>
              </a:rPr>
              <a:t>Cost Aproximat =  </a:t>
            </a:r>
            <a:r>
              <a:rPr lang="ca-ES" sz="5400" b="1" dirty="0" smtClean="0">
                <a:solidFill>
                  <a:srgbClr val="F94CAF"/>
                </a:solidFill>
                <a:latin typeface="Arial Black" panose="020B0A04020102020204" pitchFamily="34" charset="0"/>
                <a:ea typeface="Inconsolata Bold" pitchFamily="34" charset="-122"/>
                <a:cs typeface="Inconsolata Bold" pitchFamily="34" charset="-120"/>
              </a:rPr>
              <a:t>16.000 €</a:t>
            </a:r>
            <a:endParaRPr lang="ca-ES" sz="5400" b="1" dirty="0">
              <a:solidFill>
                <a:srgbClr val="F94CAF"/>
              </a:solidFill>
              <a:latin typeface="Arial Black" panose="020B0A04020102020204" pitchFamily="34" charset="0"/>
              <a:ea typeface="Inconsolata Bold" pitchFamily="34" charset="-122"/>
              <a:cs typeface="Inconsolata Bold" pitchFamily="34" charset="-120"/>
            </a:endParaRPr>
          </a:p>
        </p:txBody>
      </p:sp>
      <p:sp>
        <p:nvSpPr>
          <p:cNvPr id="4" name="Text 1"/>
          <p:cNvSpPr/>
          <p:nvPr/>
        </p:nvSpPr>
        <p:spPr>
          <a:xfrm>
            <a:off x="761405" y="4605814"/>
            <a:ext cx="4151709" cy="717947"/>
          </a:xfrm>
          <a:prstGeom prst="rect">
            <a:avLst/>
          </a:prstGeom>
          <a:noFill/>
          <a:ln/>
        </p:spPr>
        <p:txBody>
          <a:bodyPr wrap="none" lIns="0" tIns="0" rIns="0" bIns="0" rtlCol="0" anchor="t"/>
          <a:lstStyle/>
          <a:p>
            <a:pPr marL="0" indent="0" algn="ctr">
              <a:lnSpc>
                <a:spcPts val="5650"/>
              </a:lnSpc>
              <a:buNone/>
            </a:pPr>
            <a:r>
              <a:rPr lang="en-US" sz="4400" b="1" dirty="0">
                <a:solidFill>
                  <a:srgbClr val="DAD1E6"/>
                </a:solidFill>
                <a:latin typeface="Inconsolata Bold" pitchFamily="34" charset="0"/>
                <a:ea typeface="Inconsolata Bold" pitchFamily="34" charset="-122"/>
                <a:cs typeface="Inconsolata Bold" pitchFamily="34" charset="-120"/>
              </a:rPr>
              <a:t>5.000</a:t>
            </a:r>
            <a:endParaRPr lang="en-US" sz="4400" dirty="0"/>
          </a:p>
        </p:txBody>
      </p:sp>
      <p:sp>
        <p:nvSpPr>
          <p:cNvPr id="5" name="Text 2"/>
          <p:cNvSpPr/>
          <p:nvPr/>
        </p:nvSpPr>
        <p:spPr>
          <a:xfrm>
            <a:off x="1477447" y="5595580"/>
            <a:ext cx="2719507" cy="339923"/>
          </a:xfrm>
          <a:prstGeom prst="rect">
            <a:avLst/>
          </a:prstGeom>
          <a:noFill/>
          <a:ln/>
        </p:spPr>
        <p:txBody>
          <a:bodyPr wrap="none" lIns="0" tIns="0" rIns="0" bIns="0" rtlCol="0" anchor="t"/>
          <a:lstStyle/>
          <a:p>
            <a:pPr marL="0" indent="0" algn="ctr">
              <a:lnSpc>
                <a:spcPts val="2650"/>
              </a:lnSpc>
              <a:buNone/>
            </a:pPr>
            <a:r>
              <a:rPr lang="en-US" sz="2200" b="1" dirty="0">
                <a:solidFill>
                  <a:srgbClr val="F94CAF"/>
                </a:solidFill>
                <a:latin typeface="Arial Black" panose="020B0A04020102020204" pitchFamily="34" charset="0"/>
                <a:ea typeface="Inconsolata Bold" pitchFamily="34" charset="-122"/>
                <a:cs typeface="Inconsolata Bold" pitchFamily="34" charset="-120"/>
              </a:rPr>
              <a:t>Desenvolupament</a:t>
            </a:r>
          </a:p>
        </p:txBody>
      </p:sp>
      <p:sp>
        <p:nvSpPr>
          <p:cNvPr id="6" name="Text 3"/>
          <p:cNvSpPr/>
          <p:nvPr/>
        </p:nvSpPr>
        <p:spPr>
          <a:xfrm>
            <a:off x="761405" y="6065996"/>
            <a:ext cx="4151709" cy="1044059"/>
          </a:xfrm>
          <a:prstGeom prst="rect">
            <a:avLst/>
          </a:prstGeom>
          <a:noFill/>
          <a:ln/>
        </p:spPr>
        <p:txBody>
          <a:bodyPr wrap="square" lIns="0" tIns="0" rIns="0" bIns="0" rtlCol="0" anchor="t"/>
          <a:lstStyle/>
          <a:p>
            <a:pPr marL="0" indent="0" algn="ctr">
              <a:lnSpc>
                <a:spcPts val="2700"/>
              </a:lnSpc>
              <a:buNone/>
            </a:pPr>
            <a:r>
              <a:rPr lang="en-US" sz="1700" dirty="0">
                <a:solidFill>
                  <a:srgbClr val="DAD1E6"/>
                </a:solidFill>
                <a:latin typeface="Arial" panose="020B0604020202020204" pitchFamily="34" charset="0"/>
                <a:ea typeface="Fira Sans" pitchFamily="34" charset="-122"/>
                <a:cs typeface="Arial" panose="020B0604020202020204" pitchFamily="34" charset="0"/>
              </a:rPr>
              <a:t>Els costos del desenvolupament inicial inclouen la compra d'eines, servidors, dominis i hores de treball del equip.</a:t>
            </a:r>
            <a:endParaRPr lang="en-US" sz="1700" dirty="0">
              <a:latin typeface="Arial" panose="020B0604020202020204" pitchFamily="34" charset="0"/>
              <a:cs typeface="Arial" panose="020B0604020202020204" pitchFamily="34" charset="0"/>
            </a:endParaRPr>
          </a:p>
        </p:txBody>
      </p:sp>
      <p:sp>
        <p:nvSpPr>
          <p:cNvPr id="7" name="Text 4"/>
          <p:cNvSpPr/>
          <p:nvPr/>
        </p:nvSpPr>
        <p:spPr>
          <a:xfrm>
            <a:off x="5239345" y="4615241"/>
            <a:ext cx="4151709" cy="717947"/>
          </a:xfrm>
          <a:prstGeom prst="rect">
            <a:avLst/>
          </a:prstGeom>
          <a:noFill/>
          <a:ln/>
        </p:spPr>
        <p:txBody>
          <a:bodyPr wrap="none" lIns="0" tIns="0" rIns="0" bIns="0" rtlCol="0" anchor="t"/>
          <a:lstStyle/>
          <a:p>
            <a:pPr marL="0" indent="0" algn="ctr">
              <a:lnSpc>
                <a:spcPts val="5650"/>
              </a:lnSpc>
              <a:buNone/>
            </a:pPr>
            <a:r>
              <a:rPr lang="en-US" sz="4400" b="1" dirty="0">
                <a:solidFill>
                  <a:srgbClr val="DAD1E6"/>
                </a:solidFill>
                <a:latin typeface="Inconsolata Bold" pitchFamily="34" charset="0"/>
                <a:ea typeface="Inconsolata Bold" pitchFamily="34" charset="-122"/>
                <a:cs typeface="Inconsolata Bold" pitchFamily="34" charset="-120"/>
              </a:rPr>
              <a:t>10.000</a:t>
            </a:r>
          </a:p>
        </p:txBody>
      </p:sp>
      <p:sp>
        <p:nvSpPr>
          <p:cNvPr id="8" name="Text 5"/>
          <p:cNvSpPr/>
          <p:nvPr/>
        </p:nvSpPr>
        <p:spPr>
          <a:xfrm>
            <a:off x="5955387" y="5595580"/>
            <a:ext cx="2719507" cy="339923"/>
          </a:xfrm>
          <a:prstGeom prst="rect">
            <a:avLst/>
          </a:prstGeom>
          <a:noFill/>
          <a:ln/>
        </p:spPr>
        <p:txBody>
          <a:bodyPr wrap="none" lIns="0" tIns="0" rIns="0" bIns="0" rtlCol="0" anchor="t"/>
          <a:lstStyle/>
          <a:p>
            <a:pPr marL="0" indent="0" algn="ctr">
              <a:lnSpc>
                <a:spcPts val="2650"/>
              </a:lnSpc>
              <a:buNone/>
            </a:pPr>
            <a:r>
              <a:rPr lang="en-US" sz="2200" b="1" dirty="0">
                <a:solidFill>
                  <a:srgbClr val="F94CAF"/>
                </a:solidFill>
                <a:latin typeface="Arial Black" panose="020B0A04020102020204" pitchFamily="34" charset="0"/>
                <a:ea typeface="Inconsolata Bold" pitchFamily="34" charset="-122"/>
                <a:cs typeface="Inconsolata Bold" pitchFamily="34" charset="-120"/>
              </a:rPr>
              <a:t>Operacions</a:t>
            </a:r>
          </a:p>
        </p:txBody>
      </p:sp>
      <p:sp>
        <p:nvSpPr>
          <p:cNvPr id="9" name="Text 6"/>
          <p:cNvSpPr/>
          <p:nvPr/>
        </p:nvSpPr>
        <p:spPr>
          <a:xfrm>
            <a:off x="5239345" y="6065996"/>
            <a:ext cx="4151709" cy="1392079"/>
          </a:xfrm>
          <a:prstGeom prst="rect">
            <a:avLst/>
          </a:prstGeom>
          <a:noFill/>
          <a:ln/>
        </p:spPr>
        <p:txBody>
          <a:bodyPr wrap="square" lIns="0" tIns="0" rIns="0" bIns="0" rtlCol="0" anchor="t"/>
          <a:lstStyle/>
          <a:p>
            <a:pPr algn="ctr">
              <a:lnSpc>
                <a:spcPts val="2700"/>
              </a:lnSpc>
            </a:pPr>
            <a:r>
              <a:rPr lang="en-US" sz="1700" dirty="0">
                <a:solidFill>
                  <a:srgbClr val="DAD1E6"/>
                </a:solidFill>
                <a:latin typeface="Arial" panose="020B0604020202020204" pitchFamily="34" charset="0"/>
                <a:ea typeface="Fira Sans" pitchFamily="34" charset="-122"/>
                <a:cs typeface="Arial" panose="020B0604020202020204" pitchFamily="34" charset="0"/>
              </a:rPr>
              <a:t>Els costos operatius inclouen el manteniment del sistema, la implementació de noves funcionalitats i l'actualització constant de la plataforma.</a:t>
            </a:r>
          </a:p>
        </p:txBody>
      </p:sp>
      <p:sp>
        <p:nvSpPr>
          <p:cNvPr id="10" name="Text 7"/>
          <p:cNvSpPr/>
          <p:nvPr/>
        </p:nvSpPr>
        <p:spPr>
          <a:xfrm>
            <a:off x="9717286" y="4605814"/>
            <a:ext cx="4151709" cy="717947"/>
          </a:xfrm>
          <a:prstGeom prst="rect">
            <a:avLst/>
          </a:prstGeom>
          <a:noFill/>
          <a:ln/>
        </p:spPr>
        <p:txBody>
          <a:bodyPr wrap="none" lIns="0" tIns="0" rIns="0" bIns="0" rtlCol="0" anchor="t"/>
          <a:lstStyle/>
          <a:p>
            <a:pPr algn="ctr">
              <a:lnSpc>
                <a:spcPts val="5650"/>
              </a:lnSpc>
            </a:pPr>
            <a:r>
              <a:rPr lang="en-US" sz="4400" b="1" dirty="0" smtClean="0">
                <a:solidFill>
                  <a:srgbClr val="DAD1E6"/>
                </a:solidFill>
                <a:latin typeface="Inconsolata Bold" pitchFamily="34" charset="0"/>
                <a:ea typeface="Inconsolata Bold" pitchFamily="34" charset="-122"/>
                <a:cs typeface="Inconsolata Bold" pitchFamily="34" charset="-120"/>
              </a:rPr>
              <a:t>1.000</a:t>
            </a:r>
            <a:endParaRPr lang="en-US" sz="4400" b="1" dirty="0">
              <a:solidFill>
                <a:srgbClr val="DAD1E6"/>
              </a:solidFill>
              <a:latin typeface="Inconsolata Bold" pitchFamily="34" charset="0"/>
              <a:ea typeface="Inconsolata Bold" pitchFamily="34" charset="-122"/>
              <a:cs typeface="Inconsolata Bold" pitchFamily="34" charset="-120"/>
            </a:endParaRPr>
          </a:p>
        </p:txBody>
      </p:sp>
      <p:sp>
        <p:nvSpPr>
          <p:cNvPr id="11" name="Text 8"/>
          <p:cNvSpPr/>
          <p:nvPr/>
        </p:nvSpPr>
        <p:spPr>
          <a:xfrm>
            <a:off x="10433328" y="5595580"/>
            <a:ext cx="2719507" cy="339923"/>
          </a:xfrm>
          <a:prstGeom prst="rect">
            <a:avLst/>
          </a:prstGeom>
          <a:noFill/>
          <a:ln/>
        </p:spPr>
        <p:txBody>
          <a:bodyPr wrap="none" lIns="0" tIns="0" rIns="0" bIns="0" rtlCol="0" anchor="t"/>
          <a:lstStyle/>
          <a:p>
            <a:pPr marL="0" indent="0" algn="ctr">
              <a:lnSpc>
                <a:spcPts val="2650"/>
              </a:lnSpc>
              <a:buNone/>
            </a:pPr>
            <a:r>
              <a:rPr lang="en-US" sz="2200" b="1" dirty="0">
                <a:solidFill>
                  <a:srgbClr val="F94CAF"/>
                </a:solidFill>
                <a:latin typeface="Arial Black" panose="020B0A04020102020204" pitchFamily="34" charset="0"/>
                <a:ea typeface="Inconsolata Bold" pitchFamily="34" charset="-122"/>
                <a:cs typeface="Inconsolata Bold" pitchFamily="34" charset="-120"/>
              </a:rPr>
              <a:t>Màrqueting</a:t>
            </a:r>
          </a:p>
        </p:txBody>
      </p:sp>
      <p:sp>
        <p:nvSpPr>
          <p:cNvPr id="12" name="Text 9"/>
          <p:cNvSpPr/>
          <p:nvPr/>
        </p:nvSpPr>
        <p:spPr>
          <a:xfrm>
            <a:off x="9717286" y="6065996"/>
            <a:ext cx="4151709" cy="1044059"/>
          </a:xfrm>
          <a:prstGeom prst="rect">
            <a:avLst/>
          </a:prstGeom>
          <a:noFill/>
          <a:ln/>
        </p:spPr>
        <p:txBody>
          <a:bodyPr wrap="square" lIns="0" tIns="0" rIns="0" bIns="0" rtlCol="0" anchor="t"/>
          <a:lstStyle/>
          <a:p>
            <a:pPr indent="0" algn="ctr">
              <a:lnSpc>
                <a:spcPts val="2700"/>
              </a:lnSpc>
              <a:buNone/>
            </a:pPr>
            <a:r>
              <a:rPr lang="en-US" sz="1700" dirty="0">
                <a:solidFill>
                  <a:srgbClr val="DAD1E6"/>
                </a:solidFill>
                <a:latin typeface="Arial" panose="020B0604020202020204" pitchFamily="34" charset="0"/>
                <a:ea typeface="Fira Sans" pitchFamily="34" charset="-122"/>
                <a:cs typeface="Arial" panose="020B0604020202020204" pitchFamily="34" charset="0"/>
              </a:rPr>
              <a:t>Invertirem en campanyes de màrqueting i publicitat per a promocionar la plataforma i atraure usuaris potencials.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58071" y="595551"/>
            <a:ext cx="6225897" cy="676870"/>
          </a:xfrm>
          <a:prstGeom prst="rect">
            <a:avLst/>
          </a:prstGeom>
          <a:noFill/>
          <a:ln/>
        </p:spPr>
        <p:txBody>
          <a:bodyPr wrap="none" lIns="0" tIns="0" rIns="0" bIns="0" rtlCol="0" anchor="t"/>
          <a:lstStyle/>
          <a:p>
            <a:pPr marL="0" indent="0">
              <a:lnSpc>
                <a:spcPts val="5300"/>
              </a:lnSpc>
              <a:buNone/>
            </a:pPr>
            <a:r>
              <a:rPr lang="ca-ES" sz="4250" b="1" dirty="0" smtClean="0">
                <a:solidFill>
                  <a:srgbClr val="F94CAF"/>
                </a:solidFill>
                <a:latin typeface="Arial Black" pitchFamily="34" charset="0"/>
                <a:ea typeface="Inconsolata Bold" pitchFamily="34" charset="-122"/>
                <a:cs typeface="Inconsolata Bold" pitchFamily="34" charset="-120"/>
              </a:rPr>
              <a:t>Perquè el projecte pot ser viable?</a:t>
            </a:r>
            <a:endParaRPr lang="ca-ES" sz="4250" dirty="0">
              <a:latin typeface="Arial Black" pitchFamily="34" charset="0"/>
            </a:endParaRPr>
          </a:p>
        </p:txBody>
      </p:sp>
      <p:pic>
        <p:nvPicPr>
          <p:cNvPr id="3"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954655" y="1705570"/>
            <a:ext cx="2163842" cy="1940838"/>
          </a:xfrm>
          <a:prstGeom prst="rect">
            <a:avLst/>
          </a:prstGeom>
        </p:spPr>
      </p:pic>
      <p:sp>
        <p:nvSpPr>
          <p:cNvPr id="4" name="Text 1"/>
          <p:cNvSpPr/>
          <p:nvPr/>
        </p:nvSpPr>
        <p:spPr>
          <a:xfrm>
            <a:off x="3968829" y="2717959"/>
            <a:ext cx="135374" cy="433149"/>
          </a:xfrm>
          <a:prstGeom prst="rect">
            <a:avLst/>
          </a:prstGeom>
          <a:noFill/>
          <a:ln/>
        </p:spPr>
        <p:txBody>
          <a:bodyPr wrap="none" lIns="0" tIns="0" rIns="0" bIns="0" rtlCol="0" anchor="t"/>
          <a:lstStyle/>
          <a:p>
            <a:pPr marL="0" indent="0" algn="ctr">
              <a:lnSpc>
                <a:spcPts val="3400"/>
              </a:lnSpc>
              <a:buNone/>
            </a:pPr>
            <a:r>
              <a:rPr lang="en-US" sz="2100" b="1" dirty="0">
                <a:solidFill>
                  <a:srgbClr val="DAD1E6"/>
                </a:solidFill>
                <a:latin typeface="Inconsolata Bold" pitchFamily="34" charset="0"/>
                <a:ea typeface="Inconsolata Bold" pitchFamily="34" charset="-122"/>
                <a:cs typeface="Inconsolata Bold" pitchFamily="34" charset="-120"/>
              </a:rPr>
              <a:t>1</a:t>
            </a:r>
            <a:endParaRPr lang="en-US" sz="2100" dirty="0"/>
          </a:p>
        </p:txBody>
      </p:sp>
      <p:sp>
        <p:nvSpPr>
          <p:cNvPr id="5" name="Text 2"/>
          <p:cNvSpPr/>
          <p:nvPr/>
        </p:nvSpPr>
        <p:spPr>
          <a:xfrm>
            <a:off x="5335072" y="2268617"/>
            <a:ext cx="2707481" cy="338376"/>
          </a:xfrm>
          <a:prstGeom prst="rect">
            <a:avLst/>
          </a:prstGeom>
          <a:noFill/>
          <a:ln/>
        </p:spPr>
        <p:txBody>
          <a:bodyPr wrap="none" lIns="0" tIns="0" rIns="0" bIns="0" rtlCol="0" anchor="t"/>
          <a:lstStyle/>
          <a:p>
            <a:pPr marL="0" indent="0" algn="l">
              <a:lnSpc>
                <a:spcPts val="2650"/>
              </a:lnSpc>
              <a:buNone/>
            </a:pPr>
            <a:r>
              <a:rPr lang="en-US" sz="2100" b="1" dirty="0">
                <a:solidFill>
                  <a:schemeClr val="accent5">
                    <a:lumMod val="60000"/>
                    <a:lumOff val="40000"/>
                  </a:schemeClr>
                </a:solidFill>
                <a:latin typeface="Arial Black" pitchFamily="34" charset="0"/>
                <a:ea typeface="Inconsolata Bold" pitchFamily="34" charset="-122"/>
                <a:cs typeface="Inconsolata Bold" pitchFamily="34" charset="-120"/>
              </a:rPr>
              <a:t>Riscos</a:t>
            </a:r>
            <a:endParaRPr lang="en-US" sz="2100" dirty="0">
              <a:solidFill>
                <a:schemeClr val="accent5">
                  <a:lumMod val="60000"/>
                  <a:lumOff val="40000"/>
                </a:schemeClr>
              </a:solidFill>
              <a:latin typeface="Arial Black" pitchFamily="34" charset="0"/>
            </a:endParaRPr>
          </a:p>
        </p:txBody>
      </p:sp>
      <p:sp>
        <p:nvSpPr>
          <p:cNvPr id="6" name="Text 3"/>
          <p:cNvSpPr/>
          <p:nvPr/>
        </p:nvSpPr>
        <p:spPr>
          <a:xfrm>
            <a:off x="5335072" y="2736890"/>
            <a:ext cx="7579638" cy="346472"/>
          </a:xfrm>
          <a:prstGeom prst="rect">
            <a:avLst/>
          </a:prstGeom>
          <a:noFill/>
          <a:ln/>
        </p:spPr>
        <p:txBody>
          <a:bodyPr wrap="none" lIns="0" tIns="0" rIns="0" bIns="0" rtlCol="0" anchor="t"/>
          <a:lstStyle/>
          <a:p>
            <a:pPr marL="0" indent="0" algn="l">
              <a:lnSpc>
                <a:spcPts val="2700"/>
              </a:lnSpc>
              <a:buNone/>
            </a:pPr>
            <a:r>
              <a:rPr lang="en-US" sz="1700" dirty="0">
                <a:solidFill>
                  <a:srgbClr val="DAD1E6"/>
                </a:solidFill>
                <a:latin typeface="Fira Sans" pitchFamily="34" charset="0"/>
                <a:ea typeface="Fira Sans" pitchFamily="34" charset="-122"/>
                <a:cs typeface="Fira Sans" pitchFamily="34" charset="-120"/>
              </a:rPr>
              <a:t>El principal risc és la competència existent en el </a:t>
            </a:r>
            <a:r>
              <a:rPr lang="en-US" sz="1700" dirty="0" err="1" smtClean="0">
                <a:solidFill>
                  <a:srgbClr val="DAD1E6"/>
                </a:solidFill>
                <a:latin typeface="Fira Sans" pitchFamily="34" charset="0"/>
                <a:ea typeface="Fira Sans" pitchFamily="34" charset="-122"/>
                <a:cs typeface="Fira Sans" pitchFamily="34" charset="-120"/>
              </a:rPr>
              <a:t>mercat</a:t>
            </a:r>
            <a:r>
              <a:rPr lang="en-US" sz="1700" dirty="0" smtClean="0">
                <a:solidFill>
                  <a:srgbClr val="DAD1E6"/>
                </a:solidFill>
                <a:latin typeface="Fira Sans" pitchFamily="34" charset="0"/>
                <a:ea typeface="Fira Sans" pitchFamily="34" charset="-122"/>
                <a:cs typeface="Fira Sans" pitchFamily="34" charset="-120"/>
              </a:rPr>
              <a:t>.</a:t>
            </a:r>
            <a:endParaRPr lang="en-US" sz="1700" dirty="0"/>
          </a:p>
        </p:txBody>
      </p:sp>
      <p:sp>
        <p:nvSpPr>
          <p:cNvPr id="7" name="Shape 4"/>
          <p:cNvSpPr/>
          <p:nvPr/>
        </p:nvSpPr>
        <p:spPr>
          <a:xfrm>
            <a:off x="5172551" y="3658195"/>
            <a:ext cx="8645723" cy="15240"/>
          </a:xfrm>
          <a:prstGeom prst="roundRect">
            <a:avLst>
              <a:gd name="adj" fmla="val 213188"/>
            </a:avLst>
          </a:prstGeom>
          <a:solidFill>
            <a:srgbClr val="5C4E69"/>
          </a:solidFill>
          <a:ln/>
        </p:spPr>
      </p:sp>
      <p:pic>
        <p:nvPicPr>
          <p:cNvPr id="8"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872734" y="3700463"/>
            <a:ext cx="4327684" cy="1940838"/>
          </a:xfrm>
          <a:prstGeom prst="rect">
            <a:avLst/>
          </a:prstGeom>
        </p:spPr>
      </p:pic>
      <p:sp>
        <p:nvSpPr>
          <p:cNvPr id="9" name="Text 5"/>
          <p:cNvSpPr/>
          <p:nvPr/>
        </p:nvSpPr>
        <p:spPr>
          <a:xfrm>
            <a:off x="3968829" y="4454247"/>
            <a:ext cx="135374" cy="433149"/>
          </a:xfrm>
          <a:prstGeom prst="rect">
            <a:avLst/>
          </a:prstGeom>
          <a:noFill/>
          <a:ln/>
        </p:spPr>
        <p:txBody>
          <a:bodyPr wrap="none" lIns="0" tIns="0" rIns="0" bIns="0" rtlCol="0" anchor="t"/>
          <a:lstStyle/>
          <a:p>
            <a:pPr marL="0" indent="0" algn="ctr">
              <a:lnSpc>
                <a:spcPts val="3400"/>
              </a:lnSpc>
              <a:buNone/>
            </a:pPr>
            <a:r>
              <a:rPr lang="en-US" sz="2100" b="1" dirty="0">
                <a:solidFill>
                  <a:srgbClr val="DAD1E6"/>
                </a:solidFill>
                <a:latin typeface="Inconsolata Bold" pitchFamily="34" charset="0"/>
                <a:ea typeface="Inconsolata Bold" pitchFamily="34" charset="-122"/>
                <a:cs typeface="Inconsolata Bold" pitchFamily="34" charset="-120"/>
              </a:rPr>
              <a:t>2</a:t>
            </a:r>
            <a:endParaRPr lang="en-US" sz="2100" dirty="0"/>
          </a:p>
        </p:txBody>
      </p:sp>
      <p:sp>
        <p:nvSpPr>
          <p:cNvPr id="10" name="Text 6"/>
          <p:cNvSpPr/>
          <p:nvPr/>
        </p:nvSpPr>
        <p:spPr>
          <a:xfrm>
            <a:off x="6416993" y="3917037"/>
            <a:ext cx="2707481" cy="338376"/>
          </a:xfrm>
          <a:prstGeom prst="rect">
            <a:avLst/>
          </a:prstGeom>
          <a:noFill/>
          <a:ln/>
        </p:spPr>
        <p:txBody>
          <a:bodyPr wrap="none" lIns="0" tIns="0" rIns="0" bIns="0" rtlCol="0" anchor="t"/>
          <a:lstStyle/>
          <a:p>
            <a:pPr marL="0" indent="0" algn="l">
              <a:lnSpc>
                <a:spcPts val="2650"/>
              </a:lnSpc>
              <a:buNone/>
            </a:pPr>
            <a:r>
              <a:rPr lang="en-US" sz="2100" b="1" dirty="0">
                <a:solidFill>
                  <a:schemeClr val="accent5">
                    <a:lumMod val="60000"/>
                    <a:lumOff val="40000"/>
                  </a:schemeClr>
                </a:solidFill>
                <a:latin typeface="Arial Black" pitchFamily="34" charset="0"/>
                <a:ea typeface="Inconsolata Bold" pitchFamily="34" charset="-122"/>
                <a:cs typeface="Inconsolata Bold" pitchFamily="34" charset="-120"/>
              </a:rPr>
              <a:t>Mitigació</a:t>
            </a:r>
            <a:endParaRPr lang="en-US" sz="2100" dirty="0">
              <a:solidFill>
                <a:schemeClr val="accent5">
                  <a:lumMod val="60000"/>
                  <a:lumOff val="40000"/>
                </a:schemeClr>
              </a:solidFill>
              <a:latin typeface="Arial Black" pitchFamily="34" charset="0"/>
            </a:endParaRPr>
          </a:p>
        </p:txBody>
      </p:sp>
      <p:sp>
        <p:nvSpPr>
          <p:cNvPr id="11" name="Text 7"/>
          <p:cNvSpPr/>
          <p:nvPr/>
        </p:nvSpPr>
        <p:spPr>
          <a:xfrm>
            <a:off x="6416993" y="4385310"/>
            <a:ext cx="7238762" cy="1039416"/>
          </a:xfrm>
          <a:prstGeom prst="rect">
            <a:avLst/>
          </a:prstGeom>
          <a:noFill/>
          <a:ln/>
        </p:spPr>
        <p:txBody>
          <a:bodyPr wrap="square" lIns="0" tIns="0" rIns="0" bIns="0" rtlCol="0" anchor="t"/>
          <a:lstStyle/>
          <a:p>
            <a:pPr marL="0" indent="0" algn="l">
              <a:lnSpc>
                <a:spcPts val="2700"/>
              </a:lnSpc>
              <a:buNone/>
            </a:pPr>
            <a:r>
              <a:rPr lang="en-US" sz="1700" dirty="0">
                <a:solidFill>
                  <a:srgbClr val="DAD1E6"/>
                </a:solidFill>
                <a:latin typeface="Fira Sans" pitchFamily="34" charset="0"/>
                <a:ea typeface="Fira Sans" pitchFamily="34" charset="-122"/>
                <a:cs typeface="Fira Sans" pitchFamily="34" charset="-120"/>
              </a:rPr>
              <a:t>L'estratègia de mitigació consisteix en diferenciar-se a través de la innovació tecnològica i l'adaptació a les necessitats específiques de cada client.</a:t>
            </a:r>
            <a:endParaRPr lang="en-US" sz="1700" dirty="0"/>
          </a:p>
        </p:txBody>
      </p:sp>
      <p:sp>
        <p:nvSpPr>
          <p:cNvPr id="12" name="Shape 8"/>
          <p:cNvSpPr/>
          <p:nvPr/>
        </p:nvSpPr>
        <p:spPr>
          <a:xfrm>
            <a:off x="6254472" y="5653088"/>
            <a:ext cx="7563803" cy="15240"/>
          </a:xfrm>
          <a:prstGeom prst="roundRect">
            <a:avLst>
              <a:gd name="adj" fmla="val 213188"/>
            </a:avLst>
          </a:prstGeom>
          <a:solidFill>
            <a:srgbClr val="5C4E69"/>
          </a:solidFill>
          <a:ln/>
        </p:spPr>
      </p:sp>
      <p:pic>
        <p:nvPicPr>
          <p:cNvPr id="13"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90813" y="5695355"/>
            <a:ext cx="6491526" cy="1940838"/>
          </a:xfrm>
          <a:prstGeom prst="rect">
            <a:avLst/>
          </a:prstGeom>
        </p:spPr>
      </p:pic>
      <p:sp>
        <p:nvSpPr>
          <p:cNvPr id="14" name="Text 9"/>
          <p:cNvSpPr/>
          <p:nvPr/>
        </p:nvSpPr>
        <p:spPr>
          <a:xfrm>
            <a:off x="3968829" y="6449139"/>
            <a:ext cx="135374" cy="433149"/>
          </a:xfrm>
          <a:prstGeom prst="rect">
            <a:avLst/>
          </a:prstGeom>
          <a:noFill/>
          <a:ln/>
        </p:spPr>
        <p:txBody>
          <a:bodyPr wrap="none" lIns="0" tIns="0" rIns="0" bIns="0" rtlCol="0" anchor="t"/>
          <a:lstStyle/>
          <a:p>
            <a:pPr marL="0" indent="0" algn="ctr">
              <a:lnSpc>
                <a:spcPts val="3400"/>
              </a:lnSpc>
              <a:buNone/>
            </a:pPr>
            <a:r>
              <a:rPr lang="en-US" sz="2100" b="1" dirty="0">
                <a:solidFill>
                  <a:srgbClr val="DAD1E6"/>
                </a:solidFill>
                <a:latin typeface="Inconsolata Bold" pitchFamily="34" charset="0"/>
                <a:ea typeface="Inconsolata Bold" pitchFamily="34" charset="-122"/>
                <a:cs typeface="Inconsolata Bold" pitchFamily="34" charset="-120"/>
              </a:rPr>
              <a:t>3</a:t>
            </a:r>
            <a:endParaRPr lang="en-US" sz="2100" dirty="0"/>
          </a:p>
        </p:txBody>
      </p:sp>
      <p:sp>
        <p:nvSpPr>
          <p:cNvPr id="15" name="Text 10"/>
          <p:cNvSpPr/>
          <p:nvPr/>
        </p:nvSpPr>
        <p:spPr>
          <a:xfrm>
            <a:off x="7498913" y="5911929"/>
            <a:ext cx="2707481" cy="338376"/>
          </a:xfrm>
          <a:prstGeom prst="rect">
            <a:avLst/>
          </a:prstGeom>
          <a:noFill/>
          <a:ln/>
        </p:spPr>
        <p:txBody>
          <a:bodyPr wrap="none" lIns="0" tIns="0" rIns="0" bIns="0" rtlCol="0" anchor="t"/>
          <a:lstStyle/>
          <a:p>
            <a:pPr marL="0" indent="0" algn="l">
              <a:lnSpc>
                <a:spcPts val="2650"/>
              </a:lnSpc>
              <a:buNone/>
            </a:pPr>
            <a:r>
              <a:rPr lang="ca-ES" sz="2100" b="1" dirty="0" smtClean="0">
                <a:solidFill>
                  <a:schemeClr val="accent5">
                    <a:lumMod val="60000"/>
                    <a:lumOff val="40000"/>
                  </a:schemeClr>
                </a:solidFill>
                <a:latin typeface="Arial Black" pitchFamily="34" charset="0"/>
                <a:ea typeface="Inconsolata Bold" pitchFamily="34" charset="-122"/>
                <a:cs typeface="Inconsolata Bold" pitchFamily="34" charset="-120"/>
              </a:rPr>
              <a:t>Avantatges competitives</a:t>
            </a:r>
            <a:endParaRPr lang="ca-ES" sz="2100" b="1" dirty="0">
              <a:solidFill>
                <a:schemeClr val="accent5">
                  <a:lumMod val="60000"/>
                  <a:lumOff val="40000"/>
                </a:schemeClr>
              </a:solidFill>
              <a:latin typeface="Arial Black" pitchFamily="34" charset="0"/>
              <a:ea typeface="Inconsolata Bold" pitchFamily="34" charset="-122"/>
              <a:cs typeface="Inconsolata Bold" pitchFamily="34" charset="-120"/>
            </a:endParaRPr>
          </a:p>
        </p:txBody>
      </p:sp>
      <p:sp>
        <p:nvSpPr>
          <p:cNvPr id="16" name="Text 11"/>
          <p:cNvSpPr/>
          <p:nvPr/>
        </p:nvSpPr>
        <p:spPr>
          <a:xfrm>
            <a:off x="7498913" y="6380202"/>
            <a:ext cx="6156841" cy="1039416"/>
          </a:xfrm>
          <a:prstGeom prst="rect">
            <a:avLst/>
          </a:prstGeom>
          <a:noFill/>
          <a:ln/>
        </p:spPr>
        <p:txBody>
          <a:bodyPr wrap="square" lIns="0" tIns="0" rIns="0" bIns="0" rtlCol="0" anchor="t"/>
          <a:lstStyle/>
          <a:p>
            <a:pPr marL="0" indent="0" algn="l">
              <a:lnSpc>
                <a:spcPts val="2700"/>
              </a:lnSpc>
              <a:buNone/>
            </a:pPr>
            <a:r>
              <a:rPr lang="en-US" sz="1700" dirty="0">
                <a:solidFill>
                  <a:srgbClr val="DAD1E6"/>
                </a:solidFill>
                <a:latin typeface="Fira Sans" pitchFamily="34" charset="0"/>
                <a:ea typeface="Fira Sans" pitchFamily="34" charset="-122"/>
                <a:cs typeface="Fira Sans" pitchFamily="34" charset="-120"/>
              </a:rPr>
              <a:t>El nostre projecte se diferencia de la competència per la seva interfície intuitiva, la seva capacitat d'integració amb altres sistemes i la seva escalabilitat.</a:t>
            </a:r>
            <a:endParaRPr lang="en-US" sz="17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80098" y="614243"/>
            <a:ext cx="7243763" cy="696516"/>
          </a:xfrm>
          <a:prstGeom prst="rect">
            <a:avLst/>
          </a:prstGeom>
          <a:noFill/>
          <a:ln/>
        </p:spPr>
        <p:txBody>
          <a:bodyPr wrap="none" lIns="0" tIns="0" rIns="0" bIns="0" rtlCol="0" anchor="t"/>
          <a:lstStyle/>
          <a:p>
            <a:pPr marL="0" indent="0">
              <a:lnSpc>
                <a:spcPts val="5450"/>
              </a:lnSpc>
              <a:buNone/>
            </a:pPr>
            <a:r>
              <a:rPr lang="en-US" sz="4350" b="1" dirty="0" smtClean="0">
                <a:solidFill>
                  <a:srgbClr val="F94CAF"/>
                </a:solidFill>
                <a:latin typeface="Inconsolata Bold" pitchFamily="34" charset="0"/>
                <a:ea typeface="Inconsolata Bold" pitchFamily="34" charset="-122"/>
                <a:cs typeface="Inconsolata Bold" pitchFamily="34" charset="-120"/>
              </a:rPr>
              <a:t>CONCLUSIONS</a:t>
            </a:r>
            <a:endParaRPr lang="en-US" sz="4350" dirty="0"/>
          </a:p>
        </p:txBody>
      </p:sp>
      <p:sp>
        <p:nvSpPr>
          <p:cNvPr id="3" name="Shape 1"/>
          <p:cNvSpPr/>
          <p:nvPr/>
        </p:nvSpPr>
        <p:spPr>
          <a:xfrm>
            <a:off x="780098" y="1756529"/>
            <a:ext cx="2178248" cy="1640919"/>
          </a:xfrm>
          <a:prstGeom prst="roundRect">
            <a:avLst>
              <a:gd name="adj" fmla="val 2038"/>
            </a:avLst>
          </a:prstGeom>
          <a:solidFill>
            <a:srgbClr val="433550"/>
          </a:solidFill>
          <a:ln/>
        </p:spPr>
      </p:sp>
      <p:sp>
        <p:nvSpPr>
          <p:cNvPr id="4" name="Text 2"/>
          <p:cNvSpPr/>
          <p:nvPr/>
        </p:nvSpPr>
        <p:spPr>
          <a:xfrm>
            <a:off x="1002983" y="2354104"/>
            <a:ext cx="139303" cy="445770"/>
          </a:xfrm>
          <a:prstGeom prst="rect">
            <a:avLst/>
          </a:prstGeom>
          <a:noFill/>
          <a:ln/>
        </p:spPr>
        <p:txBody>
          <a:bodyPr wrap="none" lIns="0" tIns="0" rIns="0" bIns="0" rtlCol="0" anchor="t"/>
          <a:lstStyle/>
          <a:p>
            <a:pPr marL="0" indent="0" algn="ctr">
              <a:lnSpc>
                <a:spcPts val="3500"/>
              </a:lnSpc>
              <a:buNone/>
            </a:pPr>
            <a:r>
              <a:rPr lang="en-US" sz="2150" b="1" dirty="0">
                <a:solidFill>
                  <a:srgbClr val="DAD1E6"/>
                </a:solidFill>
                <a:latin typeface="Inconsolata Bold" pitchFamily="34" charset="0"/>
                <a:ea typeface="Inconsolata Bold" pitchFamily="34" charset="-122"/>
                <a:cs typeface="Inconsolata Bold" pitchFamily="34" charset="-120"/>
              </a:rPr>
              <a:t>1</a:t>
            </a:r>
            <a:endParaRPr lang="en-US" sz="2150" dirty="0"/>
          </a:p>
        </p:txBody>
      </p:sp>
      <p:sp>
        <p:nvSpPr>
          <p:cNvPr id="5" name="Text 3"/>
          <p:cNvSpPr/>
          <p:nvPr/>
        </p:nvSpPr>
        <p:spPr>
          <a:xfrm>
            <a:off x="3181231" y="1979414"/>
            <a:ext cx="2786301" cy="348258"/>
          </a:xfrm>
          <a:prstGeom prst="rect">
            <a:avLst/>
          </a:prstGeom>
          <a:noFill/>
          <a:ln/>
        </p:spPr>
        <p:txBody>
          <a:bodyPr wrap="none" lIns="0" tIns="0" rIns="0" bIns="0" rtlCol="0" anchor="t"/>
          <a:lstStyle/>
          <a:p>
            <a:pPr marL="0" indent="0" algn="l">
              <a:lnSpc>
                <a:spcPts val="2700"/>
              </a:lnSpc>
              <a:buNone/>
            </a:pPr>
            <a:r>
              <a:rPr lang="en-US" sz="2400" b="1" dirty="0" smtClean="0">
                <a:solidFill>
                  <a:schemeClr val="accent5">
                    <a:lumMod val="60000"/>
                    <a:lumOff val="40000"/>
                  </a:schemeClr>
                </a:solidFill>
                <a:latin typeface="Inconsolata Bold" pitchFamily="34" charset="0"/>
                <a:ea typeface="Inconsolata Bold" pitchFamily="34" charset="-122"/>
              </a:rPr>
              <a:t>PROJECTE</a:t>
            </a:r>
            <a:endParaRPr lang="en-US" sz="2400" dirty="0">
              <a:solidFill>
                <a:schemeClr val="accent5">
                  <a:lumMod val="60000"/>
                  <a:lumOff val="40000"/>
                </a:schemeClr>
              </a:solidFill>
            </a:endParaRPr>
          </a:p>
        </p:txBody>
      </p:sp>
      <p:sp>
        <p:nvSpPr>
          <p:cNvPr id="6" name="Text 4"/>
          <p:cNvSpPr/>
          <p:nvPr/>
        </p:nvSpPr>
        <p:spPr>
          <a:xfrm>
            <a:off x="3181231" y="2461379"/>
            <a:ext cx="10446187" cy="713184"/>
          </a:xfrm>
          <a:prstGeom prst="rect">
            <a:avLst/>
          </a:prstGeom>
          <a:noFill/>
          <a:ln/>
        </p:spPr>
        <p:txBody>
          <a:bodyPr wrap="square" lIns="0" tIns="0" rIns="0" bIns="0" rtlCol="0" anchor="t"/>
          <a:lstStyle/>
          <a:p>
            <a:pPr>
              <a:lnSpc>
                <a:spcPts val="2800"/>
              </a:lnSpc>
            </a:pPr>
            <a:r>
              <a:rPr lang="ca-ES" sz="1600" dirty="0" smtClean="0">
                <a:solidFill>
                  <a:srgbClr val="DAD1E6"/>
                </a:solidFill>
                <a:latin typeface="Arial Black" panose="020B0A04020102020204" pitchFamily="34" charset="0"/>
                <a:ea typeface="Fira Sans" pitchFamily="34" charset="-122"/>
                <a:cs typeface="Arial" panose="020B0604020202020204" pitchFamily="34" charset="0"/>
              </a:rPr>
              <a:t>El nostre projecte es una aplicació per a terminals mòbils, de suport en Protocol d'Evacuació i Confinament assistit i fiable per a les persones que es trobin en un l'edifici.</a:t>
            </a:r>
          </a:p>
          <a:p>
            <a:pPr marL="0" indent="0" algn="l">
              <a:lnSpc>
                <a:spcPts val="2800"/>
              </a:lnSpc>
              <a:buNone/>
            </a:pPr>
            <a:r>
              <a:rPr lang="en-US" sz="1750" dirty="0" smtClean="0">
                <a:solidFill>
                  <a:srgbClr val="DAD1E6"/>
                </a:solidFill>
                <a:latin typeface="Fira Sans" pitchFamily="34" charset="0"/>
                <a:ea typeface="Fira Sans" pitchFamily="34" charset="-122"/>
                <a:cs typeface="Fira Sans" pitchFamily="34" charset="-120"/>
              </a:rPr>
              <a:t>.</a:t>
            </a:r>
            <a:endParaRPr lang="en-US" sz="1750" dirty="0"/>
          </a:p>
        </p:txBody>
      </p:sp>
      <p:sp>
        <p:nvSpPr>
          <p:cNvPr id="7" name="Shape 5"/>
          <p:cNvSpPr/>
          <p:nvPr/>
        </p:nvSpPr>
        <p:spPr>
          <a:xfrm>
            <a:off x="3069788" y="3382208"/>
            <a:ext cx="10669072" cy="15240"/>
          </a:xfrm>
          <a:prstGeom prst="roundRect">
            <a:avLst>
              <a:gd name="adj" fmla="val 219396"/>
            </a:avLst>
          </a:prstGeom>
          <a:solidFill>
            <a:srgbClr val="5C4E69"/>
          </a:solidFill>
          <a:ln/>
        </p:spPr>
      </p:sp>
      <p:sp>
        <p:nvSpPr>
          <p:cNvPr id="8" name="Shape 6"/>
          <p:cNvSpPr/>
          <p:nvPr/>
        </p:nvSpPr>
        <p:spPr>
          <a:xfrm>
            <a:off x="780098" y="3508891"/>
            <a:ext cx="4356616" cy="1640919"/>
          </a:xfrm>
          <a:prstGeom prst="roundRect">
            <a:avLst>
              <a:gd name="adj" fmla="val 2038"/>
            </a:avLst>
          </a:prstGeom>
          <a:solidFill>
            <a:srgbClr val="433550"/>
          </a:solidFill>
          <a:ln/>
        </p:spPr>
      </p:sp>
      <p:sp>
        <p:nvSpPr>
          <p:cNvPr id="9" name="Text 7"/>
          <p:cNvSpPr/>
          <p:nvPr/>
        </p:nvSpPr>
        <p:spPr>
          <a:xfrm>
            <a:off x="1002983" y="4106466"/>
            <a:ext cx="139303" cy="445770"/>
          </a:xfrm>
          <a:prstGeom prst="rect">
            <a:avLst/>
          </a:prstGeom>
          <a:noFill/>
          <a:ln/>
        </p:spPr>
        <p:txBody>
          <a:bodyPr wrap="none" lIns="0" tIns="0" rIns="0" bIns="0" rtlCol="0" anchor="t"/>
          <a:lstStyle/>
          <a:p>
            <a:pPr marL="0" indent="0" algn="ctr">
              <a:lnSpc>
                <a:spcPts val="3500"/>
              </a:lnSpc>
              <a:buNone/>
            </a:pPr>
            <a:r>
              <a:rPr lang="en-US" sz="2150" b="1" dirty="0">
                <a:solidFill>
                  <a:srgbClr val="DAD1E6"/>
                </a:solidFill>
                <a:latin typeface="Inconsolata Bold" pitchFamily="34" charset="0"/>
                <a:ea typeface="Inconsolata Bold" pitchFamily="34" charset="-122"/>
                <a:cs typeface="Inconsolata Bold" pitchFamily="34" charset="-120"/>
              </a:rPr>
              <a:t>2</a:t>
            </a:r>
            <a:endParaRPr lang="en-US" sz="2150" dirty="0"/>
          </a:p>
        </p:txBody>
      </p:sp>
      <p:sp>
        <p:nvSpPr>
          <p:cNvPr id="10" name="Text 8"/>
          <p:cNvSpPr/>
          <p:nvPr/>
        </p:nvSpPr>
        <p:spPr>
          <a:xfrm>
            <a:off x="5359598" y="3731776"/>
            <a:ext cx="2786301" cy="348258"/>
          </a:xfrm>
          <a:prstGeom prst="rect">
            <a:avLst/>
          </a:prstGeom>
          <a:noFill/>
          <a:ln/>
        </p:spPr>
        <p:txBody>
          <a:bodyPr wrap="none" lIns="0" tIns="0" rIns="0" bIns="0" rtlCol="0" anchor="t"/>
          <a:lstStyle/>
          <a:p>
            <a:pPr marL="0" indent="0" algn="l">
              <a:lnSpc>
                <a:spcPts val="2700"/>
              </a:lnSpc>
              <a:buNone/>
            </a:pPr>
            <a:r>
              <a:rPr lang="en-US" sz="2400" b="1" dirty="0" smtClean="0">
                <a:solidFill>
                  <a:schemeClr val="accent5">
                    <a:lumMod val="60000"/>
                    <a:lumOff val="40000"/>
                  </a:schemeClr>
                </a:solidFill>
                <a:latin typeface="Inconsolata Bold" pitchFamily="34" charset="0"/>
                <a:ea typeface="Inconsolata Bold" pitchFamily="34" charset="-122"/>
              </a:rPr>
              <a:t>IDEA CLAU</a:t>
            </a:r>
            <a:endParaRPr lang="en-US" sz="2400" b="1" dirty="0">
              <a:solidFill>
                <a:schemeClr val="accent5">
                  <a:lumMod val="60000"/>
                  <a:lumOff val="40000"/>
                </a:schemeClr>
              </a:solidFill>
              <a:latin typeface="Inconsolata Bold" pitchFamily="34" charset="0"/>
              <a:ea typeface="Inconsolata Bold" pitchFamily="34" charset="-122"/>
            </a:endParaRPr>
          </a:p>
        </p:txBody>
      </p:sp>
      <p:sp>
        <p:nvSpPr>
          <p:cNvPr id="11" name="Text 9"/>
          <p:cNvSpPr/>
          <p:nvPr/>
        </p:nvSpPr>
        <p:spPr>
          <a:xfrm>
            <a:off x="5359598" y="4213741"/>
            <a:ext cx="8806345" cy="713184"/>
          </a:xfrm>
          <a:prstGeom prst="rect">
            <a:avLst/>
          </a:prstGeom>
          <a:noFill/>
          <a:ln/>
        </p:spPr>
        <p:txBody>
          <a:bodyPr wrap="square" lIns="0" tIns="0" rIns="0" bIns="0" rtlCol="0" anchor="t"/>
          <a:lstStyle/>
          <a:p>
            <a:pPr>
              <a:lnSpc>
                <a:spcPts val="2800"/>
              </a:lnSpc>
            </a:pPr>
            <a:r>
              <a:rPr lang="es-ES" sz="1600" dirty="0">
                <a:solidFill>
                  <a:srgbClr val="DAD1E6"/>
                </a:solidFill>
                <a:latin typeface="Arial Black" panose="020B0A04020102020204" pitchFamily="34" charset="0"/>
                <a:ea typeface="Fira Sans" pitchFamily="34" charset="-122"/>
                <a:cs typeface="Arial" panose="020B0604020202020204" pitchFamily="34" charset="0"/>
              </a:rPr>
              <a:t>La </a:t>
            </a:r>
            <a:r>
              <a:rPr lang="es-ES" sz="1600" dirty="0" err="1">
                <a:solidFill>
                  <a:srgbClr val="DAD1E6"/>
                </a:solidFill>
                <a:latin typeface="Arial Black" panose="020B0A04020102020204" pitchFamily="34" charset="0"/>
                <a:ea typeface="Fira Sans" pitchFamily="34" charset="-122"/>
                <a:cs typeface="Arial" panose="020B0604020202020204" pitchFamily="34" charset="0"/>
              </a:rPr>
              <a:t>nostra</a:t>
            </a:r>
            <a:r>
              <a:rPr lang="es-ES" sz="1600" dirty="0">
                <a:solidFill>
                  <a:srgbClr val="DAD1E6"/>
                </a:solidFill>
                <a:latin typeface="Arial Black" panose="020B0A04020102020204" pitchFamily="34" charset="0"/>
                <a:ea typeface="Fira Sans" pitchFamily="34" charset="-122"/>
                <a:cs typeface="Arial" panose="020B0604020202020204" pitchFamily="34" charset="0"/>
              </a:rPr>
              <a:t> </a:t>
            </a:r>
            <a:r>
              <a:rPr lang="es-ES" sz="1600" dirty="0" err="1">
                <a:solidFill>
                  <a:srgbClr val="DAD1E6"/>
                </a:solidFill>
                <a:latin typeface="Arial Black" panose="020B0A04020102020204" pitchFamily="34" charset="0"/>
                <a:ea typeface="Fira Sans" pitchFamily="34" charset="-122"/>
                <a:cs typeface="Arial" panose="020B0604020202020204" pitchFamily="34" charset="0"/>
              </a:rPr>
              <a:t>solució</a:t>
            </a:r>
            <a:r>
              <a:rPr lang="es-ES" sz="1600" dirty="0">
                <a:solidFill>
                  <a:srgbClr val="DAD1E6"/>
                </a:solidFill>
                <a:latin typeface="Arial Black" panose="020B0A04020102020204" pitchFamily="34" charset="0"/>
                <a:ea typeface="Fira Sans" pitchFamily="34" charset="-122"/>
                <a:cs typeface="Arial" panose="020B0604020202020204" pitchFamily="34" charset="0"/>
              </a:rPr>
              <a:t> </a:t>
            </a:r>
            <a:r>
              <a:rPr lang="es-ES" sz="1600" dirty="0" err="1">
                <a:solidFill>
                  <a:srgbClr val="DAD1E6"/>
                </a:solidFill>
                <a:latin typeface="Arial Black" panose="020B0A04020102020204" pitchFamily="34" charset="0"/>
                <a:ea typeface="Fira Sans" pitchFamily="34" charset="-122"/>
                <a:cs typeface="Arial" panose="020B0604020202020204" pitchFamily="34" charset="0"/>
              </a:rPr>
              <a:t>serà</a:t>
            </a:r>
            <a:r>
              <a:rPr lang="es-ES" sz="1600" dirty="0">
                <a:solidFill>
                  <a:srgbClr val="DAD1E6"/>
                </a:solidFill>
                <a:latin typeface="Arial Black" panose="020B0A04020102020204" pitchFamily="34" charset="0"/>
                <a:ea typeface="Fira Sans" pitchFamily="34" charset="-122"/>
                <a:cs typeface="Arial" panose="020B0604020202020204" pitchFamily="34" charset="0"/>
              </a:rPr>
              <a:t> una app. que es </a:t>
            </a:r>
            <a:r>
              <a:rPr lang="es-ES" sz="1600" dirty="0" err="1">
                <a:solidFill>
                  <a:srgbClr val="DAD1E6"/>
                </a:solidFill>
                <a:latin typeface="Arial Black" panose="020B0A04020102020204" pitchFamily="34" charset="0"/>
                <a:ea typeface="Fira Sans" pitchFamily="34" charset="-122"/>
                <a:cs typeface="Arial" panose="020B0604020202020204" pitchFamily="34" charset="0"/>
              </a:rPr>
              <a:t>pot</a:t>
            </a:r>
            <a:r>
              <a:rPr lang="es-ES" sz="1600" dirty="0">
                <a:solidFill>
                  <a:srgbClr val="DAD1E6"/>
                </a:solidFill>
                <a:latin typeface="Arial Black" panose="020B0A04020102020204" pitchFamily="34" charset="0"/>
                <a:ea typeface="Fira Sans" pitchFamily="34" charset="-122"/>
                <a:cs typeface="Arial" panose="020B0604020202020204" pitchFamily="34" charset="0"/>
              </a:rPr>
              <a:t> </a:t>
            </a:r>
            <a:r>
              <a:rPr lang="es-ES" sz="1600" dirty="0" err="1">
                <a:solidFill>
                  <a:srgbClr val="DAD1E6"/>
                </a:solidFill>
                <a:latin typeface="Arial Black" panose="020B0A04020102020204" pitchFamily="34" charset="0"/>
                <a:ea typeface="Fira Sans" pitchFamily="34" charset="-122"/>
                <a:cs typeface="Arial" panose="020B0604020202020204" pitchFamily="34" charset="0"/>
              </a:rPr>
              <a:t>instal·lar</a:t>
            </a:r>
            <a:r>
              <a:rPr lang="es-ES" sz="1600" dirty="0">
                <a:solidFill>
                  <a:srgbClr val="DAD1E6"/>
                </a:solidFill>
                <a:latin typeface="Arial Black" panose="020B0A04020102020204" pitchFamily="34" charset="0"/>
                <a:ea typeface="Fira Sans" pitchFamily="34" charset="-122"/>
                <a:cs typeface="Arial" panose="020B0604020202020204" pitchFamily="34" charset="0"/>
              </a:rPr>
              <a:t> en un </a:t>
            </a:r>
            <a:r>
              <a:rPr lang="es-ES" sz="1600" dirty="0" err="1">
                <a:solidFill>
                  <a:srgbClr val="DAD1E6"/>
                </a:solidFill>
                <a:latin typeface="Arial Black" panose="020B0A04020102020204" pitchFamily="34" charset="0"/>
                <a:ea typeface="Fira Sans" pitchFamily="34" charset="-122"/>
                <a:cs typeface="Arial" panose="020B0604020202020204" pitchFamily="34" charset="0"/>
              </a:rPr>
              <a:t>dispositiu</a:t>
            </a:r>
            <a:r>
              <a:rPr lang="es-ES" sz="1600" dirty="0">
                <a:solidFill>
                  <a:srgbClr val="DAD1E6"/>
                </a:solidFill>
                <a:latin typeface="Arial Black" panose="020B0A04020102020204" pitchFamily="34" charset="0"/>
                <a:ea typeface="Fira Sans" pitchFamily="34" charset="-122"/>
                <a:cs typeface="Arial" panose="020B0604020202020204" pitchFamily="34" charset="0"/>
              </a:rPr>
              <a:t> </a:t>
            </a:r>
            <a:r>
              <a:rPr lang="es-ES" sz="1600" dirty="0" err="1">
                <a:solidFill>
                  <a:srgbClr val="DAD1E6"/>
                </a:solidFill>
                <a:latin typeface="Arial Black" panose="020B0A04020102020204" pitchFamily="34" charset="0"/>
                <a:ea typeface="Fira Sans" pitchFamily="34" charset="-122"/>
                <a:cs typeface="Arial" panose="020B0604020202020204" pitchFamily="34" charset="0"/>
              </a:rPr>
              <a:t>mòbil</a:t>
            </a:r>
            <a:r>
              <a:rPr lang="es-ES" sz="1600" dirty="0">
                <a:solidFill>
                  <a:srgbClr val="DAD1E6"/>
                </a:solidFill>
                <a:latin typeface="Arial Black" panose="020B0A04020102020204" pitchFamily="34" charset="0"/>
                <a:ea typeface="Fira Sans" pitchFamily="34" charset="-122"/>
                <a:cs typeface="Arial" panose="020B0604020202020204" pitchFamily="34" charset="0"/>
              </a:rPr>
              <a:t>, </a:t>
            </a:r>
            <a:r>
              <a:rPr lang="es-ES" sz="1600" dirty="0" err="1">
                <a:solidFill>
                  <a:srgbClr val="DAD1E6"/>
                </a:solidFill>
                <a:latin typeface="Arial Black" panose="020B0A04020102020204" pitchFamily="34" charset="0"/>
                <a:ea typeface="Fira Sans" pitchFamily="34" charset="-122"/>
                <a:cs typeface="Arial" panose="020B0604020202020204" pitchFamily="34" charset="0"/>
              </a:rPr>
              <a:t>com</a:t>
            </a:r>
            <a:r>
              <a:rPr lang="es-ES" sz="1600" dirty="0">
                <a:solidFill>
                  <a:srgbClr val="DAD1E6"/>
                </a:solidFill>
                <a:latin typeface="Arial Black" panose="020B0A04020102020204" pitchFamily="34" charset="0"/>
                <a:ea typeface="Fira Sans" pitchFamily="34" charset="-122"/>
                <a:cs typeface="Arial" panose="020B0604020202020204" pitchFamily="34" charset="0"/>
              </a:rPr>
              <a:t> </a:t>
            </a:r>
            <a:r>
              <a:rPr lang="es-ES" sz="1600" dirty="0" err="1">
                <a:solidFill>
                  <a:srgbClr val="DAD1E6"/>
                </a:solidFill>
                <a:latin typeface="Arial Black" panose="020B0A04020102020204" pitchFamily="34" charset="0"/>
                <a:ea typeface="Fira Sans" pitchFamily="34" charset="-122"/>
                <a:cs typeface="Arial" panose="020B0604020202020204" pitchFamily="34" charset="0"/>
              </a:rPr>
              <a:t>aplicació</a:t>
            </a:r>
            <a:r>
              <a:rPr lang="es-ES" sz="1600" dirty="0">
                <a:solidFill>
                  <a:srgbClr val="DAD1E6"/>
                </a:solidFill>
                <a:latin typeface="Arial Black" panose="020B0A04020102020204" pitchFamily="34" charset="0"/>
                <a:ea typeface="Fira Sans" pitchFamily="34" charset="-122"/>
                <a:cs typeface="Arial" panose="020B0604020202020204" pitchFamily="34" charset="0"/>
              </a:rPr>
              <a:t> </a:t>
            </a:r>
            <a:r>
              <a:rPr lang="es-ES" sz="1600" dirty="0" err="1">
                <a:solidFill>
                  <a:srgbClr val="DAD1E6"/>
                </a:solidFill>
                <a:latin typeface="Arial Black" panose="020B0A04020102020204" pitchFamily="34" charset="0"/>
                <a:ea typeface="Fira Sans" pitchFamily="34" charset="-122"/>
                <a:cs typeface="Arial" panose="020B0604020202020204" pitchFamily="34" charset="0"/>
              </a:rPr>
              <a:t>pròpia</a:t>
            </a:r>
            <a:r>
              <a:rPr lang="es-ES" sz="1600" dirty="0">
                <a:solidFill>
                  <a:srgbClr val="DAD1E6"/>
                </a:solidFill>
                <a:latin typeface="Arial Black" panose="020B0A04020102020204" pitchFamily="34" charset="0"/>
                <a:ea typeface="Fira Sans" pitchFamily="34" charset="-122"/>
                <a:cs typeface="Arial" panose="020B0604020202020204" pitchFamily="34" charset="0"/>
              </a:rPr>
              <a:t> o </a:t>
            </a:r>
            <a:r>
              <a:rPr lang="es-ES" sz="1600" dirty="0" err="1">
                <a:solidFill>
                  <a:srgbClr val="DAD1E6"/>
                </a:solidFill>
                <a:latin typeface="Arial Black" panose="020B0A04020102020204" pitchFamily="34" charset="0"/>
                <a:ea typeface="Fira Sans" pitchFamily="34" charset="-122"/>
                <a:cs typeface="Arial" panose="020B0604020202020204" pitchFamily="34" charset="0"/>
              </a:rPr>
              <a:t>inclús</a:t>
            </a:r>
            <a:r>
              <a:rPr lang="es-ES" sz="1600" dirty="0">
                <a:solidFill>
                  <a:srgbClr val="DAD1E6"/>
                </a:solidFill>
                <a:latin typeface="Arial Black" panose="020B0A04020102020204" pitchFamily="34" charset="0"/>
                <a:ea typeface="Fira Sans" pitchFamily="34" charset="-122"/>
                <a:cs typeface="Arial" panose="020B0604020202020204" pitchFamily="34" charset="0"/>
              </a:rPr>
              <a:t> </a:t>
            </a:r>
            <a:r>
              <a:rPr lang="es-ES" sz="1600" dirty="0" err="1">
                <a:solidFill>
                  <a:srgbClr val="DAD1E6"/>
                </a:solidFill>
                <a:latin typeface="Arial Black" panose="020B0A04020102020204" pitchFamily="34" charset="0"/>
                <a:ea typeface="Fira Sans" pitchFamily="34" charset="-122"/>
                <a:cs typeface="Arial" panose="020B0604020202020204" pitchFamily="34" charset="0"/>
              </a:rPr>
              <a:t>dintre</a:t>
            </a:r>
            <a:r>
              <a:rPr lang="es-ES" sz="1600" dirty="0">
                <a:solidFill>
                  <a:srgbClr val="DAD1E6"/>
                </a:solidFill>
                <a:latin typeface="Arial Black" panose="020B0A04020102020204" pitchFamily="34" charset="0"/>
                <a:ea typeface="Fira Sans" pitchFamily="34" charset="-122"/>
                <a:cs typeface="Arial" panose="020B0604020202020204" pitchFamily="34" charset="0"/>
              </a:rPr>
              <a:t> </a:t>
            </a:r>
            <a:r>
              <a:rPr lang="es-ES" sz="1600" dirty="0" err="1">
                <a:solidFill>
                  <a:srgbClr val="DAD1E6"/>
                </a:solidFill>
                <a:latin typeface="Arial Black" panose="020B0A04020102020204" pitchFamily="34" charset="0"/>
                <a:ea typeface="Fira Sans" pitchFamily="34" charset="-122"/>
                <a:cs typeface="Arial" panose="020B0604020202020204" pitchFamily="34" charset="0"/>
              </a:rPr>
              <a:t>d’alguna</a:t>
            </a:r>
            <a:r>
              <a:rPr lang="es-ES" sz="1600" dirty="0">
                <a:solidFill>
                  <a:srgbClr val="DAD1E6"/>
                </a:solidFill>
                <a:latin typeface="Arial Black" panose="020B0A04020102020204" pitchFamily="34" charset="0"/>
                <a:ea typeface="Fira Sans" pitchFamily="34" charset="-122"/>
                <a:cs typeface="Arial" panose="020B0604020202020204" pitchFamily="34" charset="0"/>
              </a:rPr>
              <a:t> </a:t>
            </a:r>
            <a:r>
              <a:rPr lang="es-ES" sz="1600" dirty="0" err="1">
                <a:solidFill>
                  <a:srgbClr val="DAD1E6"/>
                </a:solidFill>
                <a:latin typeface="Arial Black" panose="020B0A04020102020204" pitchFamily="34" charset="0"/>
                <a:ea typeface="Fira Sans" pitchFamily="34" charset="-122"/>
                <a:cs typeface="Arial" panose="020B0604020202020204" pitchFamily="34" charset="0"/>
              </a:rPr>
              <a:t>altra</a:t>
            </a:r>
            <a:r>
              <a:rPr lang="es-ES" sz="1600" dirty="0">
                <a:solidFill>
                  <a:srgbClr val="DAD1E6"/>
                </a:solidFill>
                <a:latin typeface="Arial Black" panose="020B0A04020102020204" pitchFamily="34" charset="0"/>
                <a:ea typeface="Fira Sans" pitchFamily="34" charset="-122"/>
                <a:cs typeface="Arial" panose="020B0604020202020204" pitchFamily="34" charset="0"/>
              </a:rPr>
              <a:t> </a:t>
            </a:r>
            <a:r>
              <a:rPr lang="es-ES" sz="1600" dirty="0" err="1">
                <a:solidFill>
                  <a:srgbClr val="DAD1E6"/>
                </a:solidFill>
                <a:latin typeface="Arial Black" panose="020B0A04020102020204" pitchFamily="34" charset="0"/>
                <a:ea typeface="Fira Sans" pitchFamily="34" charset="-122"/>
                <a:cs typeface="Arial" panose="020B0604020202020204" pitchFamily="34" charset="0"/>
              </a:rPr>
              <a:t>aplicació</a:t>
            </a:r>
            <a:r>
              <a:rPr lang="ca-ES" sz="1600" dirty="0">
                <a:solidFill>
                  <a:srgbClr val="DAD1E6"/>
                </a:solidFill>
                <a:latin typeface="Arial Black" panose="020B0A04020102020204" pitchFamily="34" charset="0"/>
                <a:ea typeface="Fira Sans" pitchFamily="34" charset="-122"/>
                <a:cs typeface="Arial" panose="020B0604020202020204" pitchFamily="34" charset="0"/>
              </a:rPr>
              <a:t>.</a:t>
            </a:r>
          </a:p>
          <a:p>
            <a:pPr marL="0" indent="0" algn="l">
              <a:lnSpc>
                <a:spcPts val="2800"/>
              </a:lnSpc>
              <a:buNone/>
            </a:pPr>
            <a:r>
              <a:rPr lang="en-US" sz="1750" dirty="0" smtClean="0">
                <a:solidFill>
                  <a:srgbClr val="DAD1E6"/>
                </a:solidFill>
                <a:latin typeface="Fira Sans" pitchFamily="34" charset="0"/>
                <a:ea typeface="Fira Sans" pitchFamily="34" charset="-122"/>
                <a:cs typeface="Fira Sans" pitchFamily="34" charset="-120"/>
              </a:rPr>
              <a:t>.</a:t>
            </a:r>
            <a:endParaRPr lang="en-US" sz="1750" dirty="0"/>
          </a:p>
        </p:txBody>
      </p:sp>
      <p:sp>
        <p:nvSpPr>
          <p:cNvPr id="12" name="Shape 10"/>
          <p:cNvSpPr/>
          <p:nvPr/>
        </p:nvSpPr>
        <p:spPr>
          <a:xfrm>
            <a:off x="5248156" y="5134570"/>
            <a:ext cx="8490704" cy="15240"/>
          </a:xfrm>
          <a:prstGeom prst="roundRect">
            <a:avLst>
              <a:gd name="adj" fmla="val 219396"/>
            </a:avLst>
          </a:prstGeom>
          <a:solidFill>
            <a:srgbClr val="5C4E69"/>
          </a:solidFill>
          <a:ln/>
        </p:spPr>
      </p:sp>
      <p:sp>
        <p:nvSpPr>
          <p:cNvPr id="13" name="Shape 11"/>
          <p:cNvSpPr/>
          <p:nvPr/>
        </p:nvSpPr>
        <p:spPr>
          <a:xfrm>
            <a:off x="780098" y="5261253"/>
            <a:ext cx="6535103" cy="2354104"/>
          </a:xfrm>
          <a:prstGeom prst="roundRect">
            <a:avLst>
              <a:gd name="adj" fmla="val 1420"/>
            </a:avLst>
          </a:prstGeom>
          <a:solidFill>
            <a:srgbClr val="433550"/>
          </a:solidFill>
          <a:ln/>
        </p:spPr>
      </p:sp>
      <p:sp>
        <p:nvSpPr>
          <p:cNvPr id="14" name="Text 12"/>
          <p:cNvSpPr/>
          <p:nvPr/>
        </p:nvSpPr>
        <p:spPr>
          <a:xfrm>
            <a:off x="1002983" y="6215420"/>
            <a:ext cx="139303" cy="445770"/>
          </a:xfrm>
          <a:prstGeom prst="rect">
            <a:avLst/>
          </a:prstGeom>
          <a:noFill/>
          <a:ln/>
        </p:spPr>
        <p:txBody>
          <a:bodyPr wrap="none" lIns="0" tIns="0" rIns="0" bIns="0" rtlCol="0" anchor="t"/>
          <a:lstStyle/>
          <a:p>
            <a:pPr marL="0" indent="0" algn="ctr">
              <a:lnSpc>
                <a:spcPts val="3500"/>
              </a:lnSpc>
              <a:buNone/>
            </a:pPr>
            <a:r>
              <a:rPr lang="en-US" sz="2150" b="1" dirty="0">
                <a:solidFill>
                  <a:srgbClr val="DAD1E6"/>
                </a:solidFill>
                <a:latin typeface="Inconsolata Bold" pitchFamily="34" charset="0"/>
                <a:ea typeface="Inconsolata Bold" pitchFamily="34" charset="-122"/>
                <a:cs typeface="Inconsolata Bold" pitchFamily="34" charset="-120"/>
              </a:rPr>
              <a:t>3</a:t>
            </a:r>
            <a:endParaRPr lang="en-US" sz="2150" dirty="0"/>
          </a:p>
        </p:txBody>
      </p:sp>
      <p:sp>
        <p:nvSpPr>
          <p:cNvPr id="15" name="Text 13"/>
          <p:cNvSpPr/>
          <p:nvPr/>
        </p:nvSpPr>
        <p:spPr>
          <a:xfrm>
            <a:off x="7538085" y="5484138"/>
            <a:ext cx="2786301" cy="348258"/>
          </a:xfrm>
          <a:prstGeom prst="rect">
            <a:avLst/>
          </a:prstGeom>
          <a:noFill/>
          <a:ln/>
        </p:spPr>
        <p:txBody>
          <a:bodyPr wrap="none" lIns="0" tIns="0" rIns="0" bIns="0" rtlCol="0" anchor="t"/>
          <a:lstStyle/>
          <a:p>
            <a:pPr marL="0" indent="0" algn="l">
              <a:lnSpc>
                <a:spcPts val="2700"/>
              </a:lnSpc>
              <a:buNone/>
            </a:pPr>
            <a:r>
              <a:rPr lang="en-US" sz="2400" b="1" dirty="0" smtClean="0">
                <a:solidFill>
                  <a:schemeClr val="accent5">
                    <a:lumMod val="60000"/>
                    <a:lumOff val="40000"/>
                  </a:schemeClr>
                </a:solidFill>
                <a:latin typeface="Inconsolata Bold" pitchFamily="34" charset="0"/>
                <a:ea typeface="Inconsolata Bold" pitchFamily="34" charset="-122"/>
              </a:rPr>
              <a:t>VISIÓ</a:t>
            </a:r>
            <a:endParaRPr lang="en-US" sz="2400" b="1" dirty="0">
              <a:solidFill>
                <a:schemeClr val="accent5">
                  <a:lumMod val="60000"/>
                  <a:lumOff val="40000"/>
                </a:schemeClr>
              </a:solidFill>
              <a:latin typeface="Inconsolata Bold" pitchFamily="34" charset="0"/>
              <a:ea typeface="Inconsolata Bold" pitchFamily="34" charset="-122"/>
            </a:endParaRPr>
          </a:p>
        </p:txBody>
      </p:sp>
      <p:sp>
        <p:nvSpPr>
          <p:cNvPr id="16" name="Text 14"/>
          <p:cNvSpPr/>
          <p:nvPr/>
        </p:nvSpPr>
        <p:spPr>
          <a:xfrm>
            <a:off x="7538085" y="5966103"/>
            <a:ext cx="6089333" cy="1426369"/>
          </a:xfrm>
          <a:prstGeom prst="rect">
            <a:avLst/>
          </a:prstGeom>
          <a:noFill/>
          <a:ln/>
        </p:spPr>
        <p:txBody>
          <a:bodyPr wrap="square" lIns="0" tIns="0" rIns="0" bIns="0" rtlCol="0" anchor="t"/>
          <a:lstStyle/>
          <a:p>
            <a:pPr marL="0" indent="0" algn="l">
              <a:lnSpc>
                <a:spcPts val="2800"/>
              </a:lnSpc>
              <a:buNone/>
            </a:pPr>
            <a:r>
              <a:rPr lang="es-ES" sz="1600" dirty="0">
                <a:solidFill>
                  <a:srgbClr val="DAD1E6"/>
                </a:solidFill>
                <a:latin typeface="Arial Black" panose="020B0A04020102020204" pitchFamily="34" charset="0"/>
                <a:ea typeface="Fira Sans" pitchFamily="34" charset="-122"/>
                <a:cs typeface="Arial" panose="020B0604020202020204" pitchFamily="34" charset="0"/>
              </a:rPr>
              <a:t>E</a:t>
            </a:r>
            <a:r>
              <a:rPr lang="ca-ES" sz="1600" dirty="0">
                <a:solidFill>
                  <a:srgbClr val="DAD1E6"/>
                </a:solidFill>
                <a:latin typeface="Arial Black" panose="020B0A04020102020204" pitchFamily="34" charset="0"/>
                <a:ea typeface="Fira Sans" pitchFamily="34" charset="-122"/>
                <a:cs typeface="Arial" panose="020B0604020202020204" pitchFamily="34" charset="0"/>
              </a:rPr>
              <a:t>l nostre objectiu és convertir-nos en una empresa en </a:t>
            </a:r>
            <a:r>
              <a:rPr lang="ca-ES" sz="1600" dirty="0" smtClean="0">
                <a:solidFill>
                  <a:srgbClr val="DAD1E6"/>
                </a:solidFill>
                <a:latin typeface="Arial Black" panose="020B0A04020102020204" pitchFamily="34" charset="0"/>
                <a:ea typeface="Fira Sans" pitchFamily="34" charset="-122"/>
                <a:cs typeface="Arial" panose="020B0604020202020204" pitchFamily="34" charset="0"/>
              </a:rPr>
              <a:t>que oferint </a:t>
            </a:r>
            <a:r>
              <a:rPr lang="ca-ES" sz="1600" dirty="0">
                <a:solidFill>
                  <a:srgbClr val="DAD1E6"/>
                </a:solidFill>
                <a:latin typeface="Arial Black" panose="020B0A04020102020204" pitchFamily="34" charset="0"/>
                <a:ea typeface="Fira Sans" pitchFamily="34" charset="-122"/>
                <a:cs typeface="Arial" panose="020B0604020202020204" pitchFamily="34" charset="0"/>
              </a:rPr>
              <a:t>solucions avançades </a:t>
            </a:r>
            <a:r>
              <a:rPr lang="ca-ES" sz="1600" dirty="0" smtClean="0">
                <a:solidFill>
                  <a:srgbClr val="DAD1E6"/>
                </a:solidFill>
                <a:latin typeface="Arial Black" panose="020B0A04020102020204" pitchFamily="34" charset="0"/>
                <a:ea typeface="Fira Sans" pitchFamily="34" charset="-122"/>
                <a:cs typeface="Arial" panose="020B0604020202020204" pitchFamily="34" charset="0"/>
              </a:rPr>
              <a:t>en l’àmbit de la </a:t>
            </a:r>
            <a:r>
              <a:rPr lang="ca-ES" sz="1600" dirty="0" err="1" smtClean="0">
                <a:solidFill>
                  <a:srgbClr val="DAD1E6"/>
                </a:solidFill>
                <a:latin typeface="Arial Black" panose="020B0A04020102020204" pitchFamily="34" charset="0"/>
                <a:ea typeface="Fira Sans" pitchFamily="34" charset="-122"/>
                <a:cs typeface="Arial" panose="020B0604020202020204" pitchFamily="34" charset="0"/>
              </a:rPr>
              <a:t>securetat</a:t>
            </a:r>
            <a:r>
              <a:rPr lang="ca-ES" sz="1600" dirty="0" smtClean="0">
                <a:solidFill>
                  <a:srgbClr val="DAD1E6"/>
                </a:solidFill>
                <a:latin typeface="Arial Black" panose="020B0A04020102020204" pitchFamily="34" charset="0"/>
                <a:ea typeface="Fira Sans" pitchFamily="34" charset="-122"/>
                <a:cs typeface="Arial" panose="020B0604020202020204" pitchFamily="34" charset="0"/>
              </a:rPr>
              <a:t>.</a:t>
            </a:r>
            <a:endParaRPr lang="en-US" sz="175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9768114" y="0"/>
            <a:ext cx="4862286" cy="8229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TextShape 1"/>
          <p:cNvSpPr txBox="1"/>
          <p:nvPr/>
        </p:nvSpPr>
        <p:spPr>
          <a:xfrm>
            <a:off x="653700" y="2883150"/>
            <a:ext cx="16856088" cy="1930608"/>
          </a:xfrm>
          <a:prstGeom prst="rect">
            <a:avLst/>
          </a:prstGeom>
          <a:noFill/>
          <a:ln w="0">
            <a:noFill/>
          </a:ln>
        </p:spPr>
        <p:txBody>
          <a:bodyPr lIns="109728" tIns="54864" rIns="109728" bIns="54864" anchor="ctr">
            <a:noAutofit/>
          </a:bodyPr>
          <a:lstStyle/>
          <a:p>
            <a:pPr>
              <a:lnSpc>
                <a:spcPct val="90000"/>
              </a:lnSpc>
            </a:pPr>
            <a:r>
              <a:rPr lang="ca-ES" sz="8000" cap="all" spc="-2" dirty="0">
                <a:solidFill>
                  <a:schemeClr val="bg1"/>
                </a:solidFill>
                <a:latin typeface="Franklin Gothic Heavy"/>
              </a:rPr>
              <a:t>Gràcies </a:t>
            </a:r>
          </a:p>
          <a:p>
            <a:pPr>
              <a:lnSpc>
                <a:spcPct val="90000"/>
              </a:lnSpc>
            </a:pPr>
            <a:r>
              <a:rPr lang="ca-ES" sz="8000" cap="all" spc="-2" dirty="0">
                <a:solidFill>
                  <a:srgbClr val="A6A6A6"/>
                </a:solidFill>
                <a:latin typeface="Franklin Gothic Heavy"/>
              </a:rPr>
              <a:t> Per   </a:t>
            </a:r>
            <a:r>
              <a:rPr lang="ca-ES" sz="8000" cap="all" spc="-2" dirty="0">
                <a:solidFill>
                  <a:schemeClr val="accent1">
                    <a:lumMod val="40000"/>
                    <a:lumOff val="60000"/>
                  </a:schemeClr>
                </a:solidFill>
                <a:latin typeface="Franklin Gothic Heavy"/>
              </a:rPr>
              <a:t>La </a:t>
            </a:r>
          </a:p>
          <a:p>
            <a:pPr>
              <a:lnSpc>
                <a:spcPct val="90000"/>
              </a:lnSpc>
            </a:pPr>
            <a:r>
              <a:rPr lang="ca-ES" sz="8000" cap="all" spc="-2" dirty="0">
                <a:solidFill>
                  <a:schemeClr val="accent1">
                    <a:lumMod val="40000"/>
                    <a:lumOff val="60000"/>
                  </a:schemeClr>
                </a:solidFill>
                <a:latin typeface="Franklin Gothic Heavy"/>
              </a:rPr>
              <a:t>Vostra ATENCIÓ</a:t>
            </a:r>
            <a:endParaRPr lang="en-US" sz="8000" spc="-2" dirty="0">
              <a:solidFill>
                <a:schemeClr val="accent1">
                  <a:lumMod val="40000"/>
                  <a:lumOff val="60000"/>
                </a:schemeClr>
              </a:solidFill>
              <a:latin typeface="Rockwell"/>
            </a:endParaRPr>
          </a:p>
        </p:txBody>
      </p:sp>
      <p:pic>
        <p:nvPicPr>
          <p:cNvPr id="5" name="Imatge 4"/>
          <p:cNvPicPr>
            <a:picLocks noChangeAspect="1"/>
          </p:cNvPicPr>
          <p:nvPr/>
        </p:nvPicPr>
        <p:blipFill>
          <a:blip r:embed="rId3"/>
          <a:stretch>
            <a:fillRect/>
          </a:stretch>
        </p:blipFill>
        <p:spPr>
          <a:xfrm>
            <a:off x="10563225" y="1772238"/>
            <a:ext cx="3576965" cy="4221991"/>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l'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TotalTime>
  <Words>863</Words>
  <Application>Microsoft Office PowerPoint</Application>
  <PresentationFormat>Personalitzat</PresentationFormat>
  <Paragraphs>107</Paragraphs>
  <Slides>16</Slides>
  <Notes>16</Notes>
  <HiddenSlides>0</HiddenSlides>
  <MMClips>0</MMClips>
  <ScaleCrop>false</ScaleCrop>
  <HeadingPairs>
    <vt:vector size="6" baseType="variant">
      <vt:variant>
        <vt:lpstr>Tipus de lletra utilitzats</vt:lpstr>
      </vt:variant>
      <vt:variant>
        <vt:i4>8</vt:i4>
      </vt:variant>
      <vt:variant>
        <vt:lpstr>Tema</vt:lpstr>
      </vt:variant>
      <vt:variant>
        <vt:i4>1</vt:i4>
      </vt:variant>
      <vt:variant>
        <vt:lpstr>Títols de les diapositives</vt:lpstr>
      </vt:variant>
      <vt:variant>
        <vt:i4>16</vt:i4>
      </vt:variant>
    </vt:vector>
  </HeadingPairs>
  <TitlesOfParts>
    <vt:vector size="25" baseType="lpstr">
      <vt:lpstr>DM Sans</vt:lpstr>
      <vt:lpstr>Arial</vt:lpstr>
      <vt:lpstr>Inconsolata Bold</vt:lpstr>
      <vt:lpstr>Fira Sans</vt:lpstr>
      <vt:lpstr>Franklin Gothic Heavy</vt:lpstr>
      <vt:lpstr>Rockwell</vt:lpstr>
      <vt:lpstr>Calibri</vt:lpstr>
      <vt:lpstr>Arial Black</vt:lpstr>
      <vt:lpstr>Office Theme</vt:lpstr>
      <vt:lpstr>Presentació del PowerPoint</vt:lpstr>
      <vt:lpstr>Presentació del PowerPoint</vt:lpstr>
      <vt:lpstr>Presentació del PowerPoint</vt:lpstr>
      <vt:lpstr>Presentació del PowerPoint</vt:lpstr>
      <vt:lpstr>Presentació del PowerPoint</vt:lpstr>
      <vt:lpstr>Presentació del PowerPoint</vt:lpstr>
      <vt:lpstr>Presentació del PowerPoint</vt:lpstr>
      <vt:lpstr>Presentació del PowerPoint</vt:lpstr>
      <vt:lpstr>Presentació del PowerPoint</vt:lpstr>
      <vt:lpstr>Presentació del PowerPoint</vt:lpstr>
      <vt:lpstr>Presentació del PowerPoint</vt:lpstr>
      <vt:lpstr>Presentació del PowerPoint</vt:lpstr>
      <vt:lpstr>Presentació del PowerPoint</vt:lpstr>
      <vt:lpstr>Presentació del PowerPoint</vt:lpstr>
      <vt:lpstr>Presentació del PowerPoint</vt:lpstr>
      <vt:lpstr>Presentació del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Fernando</cp:lastModifiedBy>
  <cp:revision>29</cp:revision>
  <dcterms:created xsi:type="dcterms:W3CDTF">2025-01-09T18:38:22Z</dcterms:created>
  <dcterms:modified xsi:type="dcterms:W3CDTF">2025-01-10T14:45:05Z</dcterms:modified>
</cp:coreProperties>
</file>