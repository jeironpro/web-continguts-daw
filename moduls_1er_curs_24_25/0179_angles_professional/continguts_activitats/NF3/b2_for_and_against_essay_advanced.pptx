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5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063115" y="630937"/>
            <a:ext cx="5230368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1098388"/>
            <a:ext cx="7738814" cy="4394988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5979197"/>
            <a:ext cx="6034030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6375679"/>
            <a:ext cx="174729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6375679"/>
            <a:ext cx="1747292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98012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76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2110979" cy="6858000"/>
          </a:xfrm>
          <a:custGeom>
            <a:avLst/>
            <a:gdLst/>
            <a:ahLst/>
            <a:cxnLst/>
            <a:rect l="0" t="0" r="r" b="b"/>
            <a:pathLst>
              <a:path w="1773" h="4320">
                <a:moveTo>
                  <a:pt x="0" y="0"/>
                </a:moveTo>
                <a:lnTo>
                  <a:pt x="891" y="0"/>
                </a:lnTo>
                <a:lnTo>
                  <a:pt x="906" y="56"/>
                </a:lnTo>
                <a:lnTo>
                  <a:pt x="921" y="111"/>
                </a:lnTo>
                <a:lnTo>
                  <a:pt x="938" y="165"/>
                </a:lnTo>
                <a:lnTo>
                  <a:pt x="957" y="217"/>
                </a:lnTo>
                <a:lnTo>
                  <a:pt x="980" y="266"/>
                </a:lnTo>
                <a:lnTo>
                  <a:pt x="1007" y="312"/>
                </a:lnTo>
                <a:lnTo>
                  <a:pt x="1036" y="351"/>
                </a:lnTo>
                <a:lnTo>
                  <a:pt x="1069" y="387"/>
                </a:lnTo>
                <a:lnTo>
                  <a:pt x="1105" y="422"/>
                </a:lnTo>
                <a:lnTo>
                  <a:pt x="1145" y="456"/>
                </a:lnTo>
                <a:lnTo>
                  <a:pt x="1185" y="487"/>
                </a:lnTo>
                <a:lnTo>
                  <a:pt x="1227" y="520"/>
                </a:lnTo>
                <a:lnTo>
                  <a:pt x="1270" y="551"/>
                </a:lnTo>
                <a:lnTo>
                  <a:pt x="1311" y="584"/>
                </a:lnTo>
                <a:lnTo>
                  <a:pt x="1352" y="617"/>
                </a:lnTo>
                <a:lnTo>
                  <a:pt x="1390" y="651"/>
                </a:lnTo>
                <a:lnTo>
                  <a:pt x="1425" y="687"/>
                </a:lnTo>
                <a:lnTo>
                  <a:pt x="1456" y="725"/>
                </a:lnTo>
                <a:lnTo>
                  <a:pt x="1484" y="765"/>
                </a:lnTo>
                <a:lnTo>
                  <a:pt x="1505" y="808"/>
                </a:lnTo>
                <a:lnTo>
                  <a:pt x="1521" y="856"/>
                </a:lnTo>
                <a:lnTo>
                  <a:pt x="1530" y="907"/>
                </a:lnTo>
                <a:lnTo>
                  <a:pt x="1534" y="960"/>
                </a:lnTo>
                <a:lnTo>
                  <a:pt x="1534" y="1013"/>
                </a:lnTo>
                <a:lnTo>
                  <a:pt x="1530" y="1068"/>
                </a:lnTo>
                <a:lnTo>
                  <a:pt x="1523" y="1125"/>
                </a:lnTo>
                <a:lnTo>
                  <a:pt x="1515" y="1181"/>
                </a:lnTo>
                <a:lnTo>
                  <a:pt x="1508" y="1237"/>
                </a:lnTo>
                <a:lnTo>
                  <a:pt x="1501" y="1293"/>
                </a:lnTo>
                <a:lnTo>
                  <a:pt x="1496" y="1350"/>
                </a:lnTo>
                <a:lnTo>
                  <a:pt x="1494" y="1405"/>
                </a:lnTo>
                <a:lnTo>
                  <a:pt x="1497" y="1458"/>
                </a:lnTo>
                <a:lnTo>
                  <a:pt x="1504" y="1511"/>
                </a:lnTo>
                <a:lnTo>
                  <a:pt x="1517" y="1560"/>
                </a:lnTo>
                <a:lnTo>
                  <a:pt x="1535" y="1610"/>
                </a:lnTo>
                <a:lnTo>
                  <a:pt x="1557" y="1659"/>
                </a:lnTo>
                <a:lnTo>
                  <a:pt x="1583" y="1708"/>
                </a:lnTo>
                <a:lnTo>
                  <a:pt x="1611" y="1757"/>
                </a:lnTo>
                <a:lnTo>
                  <a:pt x="1640" y="1807"/>
                </a:lnTo>
                <a:lnTo>
                  <a:pt x="1669" y="1855"/>
                </a:lnTo>
                <a:lnTo>
                  <a:pt x="1696" y="1905"/>
                </a:lnTo>
                <a:lnTo>
                  <a:pt x="1721" y="1954"/>
                </a:lnTo>
                <a:lnTo>
                  <a:pt x="1742" y="2006"/>
                </a:lnTo>
                <a:lnTo>
                  <a:pt x="1759" y="2057"/>
                </a:lnTo>
                <a:lnTo>
                  <a:pt x="1769" y="2108"/>
                </a:lnTo>
                <a:lnTo>
                  <a:pt x="1773" y="2160"/>
                </a:lnTo>
                <a:lnTo>
                  <a:pt x="1769" y="2212"/>
                </a:lnTo>
                <a:lnTo>
                  <a:pt x="1759" y="2263"/>
                </a:lnTo>
                <a:lnTo>
                  <a:pt x="1742" y="2314"/>
                </a:lnTo>
                <a:lnTo>
                  <a:pt x="1721" y="2366"/>
                </a:lnTo>
                <a:lnTo>
                  <a:pt x="1696" y="2415"/>
                </a:lnTo>
                <a:lnTo>
                  <a:pt x="1669" y="2465"/>
                </a:lnTo>
                <a:lnTo>
                  <a:pt x="1640" y="2513"/>
                </a:lnTo>
                <a:lnTo>
                  <a:pt x="1611" y="2563"/>
                </a:lnTo>
                <a:lnTo>
                  <a:pt x="1583" y="2612"/>
                </a:lnTo>
                <a:lnTo>
                  <a:pt x="1557" y="2661"/>
                </a:lnTo>
                <a:lnTo>
                  <a:pt x="1535" y="2710"/>
                </a:lnTo>
                <a:lnTo>
                  <a:pt x="1517" y="2760"/>
                </a:lnTo>
                <a:lnTo>
                  <a:pt x="1504" y="2809"/>
                </a:lnTo>
                <a:lnTo>
                  <a:pt x="1497" y="2862"/>
                </a:lnTo>
                <a:lnTo>
                  <a:pt x="1494" y="2915"/>
                </a:lnTo>
                <a:lnTo>
                  <a:pt x="1496" y="2970"/>
                </a:lnTo>
                <a:lnTo>
                  <a:pt x="1501" y="3027"/>
                </a:lnTo>
                <a:lnTo>
                  <a:pt x="1508" y="3083"/>
                </a:lnTo>
                <a:lnTo>
                  <a:pt x="1515" y="3139"/>
                </a:lnTo>
                <a:lnTo>
                  <a:pt x="1523" y="3195"/>
                </a:lnTo>
                <a:lnTo>
                  <a:pt x="1530" y="3252"/>
                </a:lnTo>
                <a:lnTo>
                  <a:pt x="1534" y="3307"/>
                </a:lnTo>
                <a:lnTo>
                  <a:pt x="1534" y="3360"/>
                </a:lnTo>
                <a:lnTo>
                  <a:pt x="1530" y="3413"/>
                </a:lnTo>
                <a:lnTo>
                  <a:pt x="1521" y="3464"/>
                </a:lnTo>
                <a:lnTo>
                  <a:pt x="1505" y="3512"/>
                </a:lnTo>
                <a:lnTo>
                  <a:pt x="1484" y="3555"/>
                </a:lnTo>
                <a:lnTo>
                  <a:pt x="1456" y="3595"/>
                </a:lnTo>
                <a:lnTo>
                  <a:pt x="1425" y="3633"/>
                </a:lnTo>
                <a:lnTo>
                  <a:pt x="1390" y="3669"/>
                </a:lnTo>
                <a:lnTo>
                  <a:pt x="1352" y="3703"/>
                </a:lnTo>
                <a:lnTo>
                  <a:pt x="1311" y="3736"/>
                </a:lnTo>
                <a:lnTo>
                  <a:pt x="1270" y="3769"/>
                </a:lnTo>
                <a:lnTo>
                  <a:pt x="1227" y="3800"/>
                </a:lnTo>
                <a:lnTo>
                  <a:pt x="1185" y="3833"/>
                </a:lnTo>
                <a:lnTo>
                  <a:pt x="1145" y="3864"/>
                </a:lnTo>
                <a:lnTo>
                  <a:pt x="1105" y="3898"/>
                </a:lnTo>
                <a:lnTo>
                  <a:pt x="1069" y="3933"/>
                </a:lnTo>
                <a:lnTo>
                  <a:pt x="1036" y="3969"/>
                </a:lnTo>
                <a:lnTo>
                  <a:pt x="1007" y="4008"/>
                </a:lnTo>
                <a:lnTo>
                  <a:pt x="980" y="4054"/>
                </a:lnTo>
                <a:lnTo>
                  <a:pt x="957" y="4103"/>
                </a:lnTo>
                <a:lnTo>
                  <a:pt x="938" y="4155"/>
                </a:lnTo>
                <a:lnTo>
                  <a:pt x="921" y="4209"/>
                </a:lnTo>
                <a:lnTo>
                  <a:pt x="906" y="4264"/>
                </a:lnTo>
                <a:lnTo>
                  <a:pt x="891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1073889"/>
            <a:ext cx="6140303" cy="4064627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5159782"/>
            <a:ext cx="5263116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6375679"/>
            <a:ext cx="1120460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6375679"/>
            <a:ext cx="1115675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6" name="Freeform 11"/>
          <p:cNvSpPr/>
          <p:nvPr/>
        </p:nvSpPr>
        <p:spPr bwMode="auto">
          <a:xfrm>
            <a:off x="655786" y="0"/>
            <a:ext cx="1234679" cy="6858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6858000"/>
            <a:chOff x="0" y="0"/>
            <a:chExt cx="2110979" cy="6858000"/>
          </a:xfrm>
        </p:grpSpPr>
        <p:sp>
          <p:nvSpPr>
            <p:cNvPr id="9" name="Freeform 8" title="left scallop shape"/>
            <p:cNvSpPr/>
            <p:nvPr/>
          </p:nvSpPr>
          <p:spPr bwMode="auto">
            <a:xfrm>
              <a:off x="0" y="0"/>
              <a:ext cx="2110979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0" name="Freeform 11" title="left scallop inline"/>
            <p:cNvSpPr/>
            <p:nvPr/>
          </p:nvSpPr>
          <p:spPr bwMode="auto">
            <a:xfrm>
              <a:off x="655786" y="0"/>
              <a:ext cx="1234679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195425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286000"/>
            <a:ext cx="3593592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6" y="2286000"/>
            <a:ext cx="3593592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287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381001"/>
            <a:ext cx="7629525" cy="14935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1832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832" y="2909102"/>
            <a:ext cx="361188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909102"/>
            <a:ext cx="361188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863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932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05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457200"/>
            <a:ext cx="2319086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920377"/>
            <a:ext cx="4618814" cy="49851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741336"/>
            <a:ext cx="2319086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6375679"/>
            <a:ext cx="925016" cy="34846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6375679"/>
            <a:ext cx="924342" cy="345796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44482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457200"/>
            <a:ext cx="2319088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741336"/>
            <a:ext cx="2319088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6375679"/>
            <a:ext cx="924342" cy="34846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56153" y="6375679"/>
            <a:ext cx="947460" cy="345796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02534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69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911" y="382386"/>
            <a:ext cx="1771930" cy="560040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4" y="382386"/>
            <a:ext cx="5809517" cy="560040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42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2286002"/>
            <a:ext cx="763374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right edge border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Freeform 5"/>
          <p:cNvSpPr/>
          <p:nvPr/>
        </p:nvSpPr>
        <p:spPr bwMode="auto">
          <a:xfrm>
            <a:off x="1" y="0"/>
            <a:ext cx="679090" cy="6858000"/>
          </a:xfrm>
          <a:custGeom>
            <a:avLst/>
            <a:gdLst/>
            <a:ahLst/>
            <a:cxnLst/>
            <a:rect l="0" t="0" r="r" b="b"/>
            <a:pathLst>
              <a:path w="211" h="2160">
                <a:moveTo>
                  <a:pt x="155" y="1728"/>
                </a:moveTo>
                <a:cubicBezTo>
                  <a:pt x="155" y="1620"/>
                  <a:pt x="211" y="1620"/>
                  <a:pt x="211" y="1512"/>
                </a:cubicBezTo>
                <a:cubicBezTo>
                  <a:pt x="211" y="1404"/>
                  <a:pt x="155" y="1404"/>
                  <a:pt x="155" y="1296"/>
                </a:cubicBezTo>
                <a:cubicBezTo>
                  <a:pt x="155" y="1188"/>
                  <a:pt x="211" y="1188"/>
                  <a:pt x="211" y="1080"/>
                </a:cubicBezTo>
                <a:cubicBezTo>
                  <a:pt x="211" y="972"/>
                  <a:pt x="155" y="972"/>
                  <a:pt x="155" y="864"/>
                </a:cubicBezTo>
                <a:cubicBezTo>
                  <a:pt x="155" y="756"/>
                  <a:pt x="211" y="756"/>
                  <a:pt x="211" y="648"/>
                </a:cubicBezTo>
                <a:cubicBezTo>
                  <a:pt x="211" y="540"/>
                  <a:pt x="155" y="540"/>
                  <a:pt x="155" y="432"/>
                </a:cubicBezTo>
                <a:cubicBezTo>
                  <a:pt x="155" y="324"/>
                  <a:pt x="211" y="324"/>
                  <a:pt x="211" y="216"/>
                </a:cubicBezTo>
                <a:cubicBezTo>
                  <a:pt x="211" y="108"/>
                  <a:pt x="155" y="108"/>
                  <a:pt x="15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155" y="2160"/>
                  <a:pt x="155" y="2160"/>
                  <a:pt x="155" y="2160"/>
                </a:cubicBezTo>
                <a:cubicBezTo>
                  <a:pt x="155" y="2052"/>
                  <a:pt x="211" y="2052"/>
                  <a:pt x="211" y="1944"/>
                </a:cubicBezTo>
                <a:cubicBezTo>
                  <a:pt x="211" y="1836"/>
                  <a:pt x="155" y="1836"/>
                  <a:pt x="155" y="172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66931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100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594">
          <p15:clr>
            <a:srgbClr val="F26B43"/>
          </p15:clr>
        </p15:guide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pos="5400">
          <p15:clr>
            <a:srgbClr val="F26B43"/>
          </p15:clr>
        </p15:guide>
        <p15:guide id="4" orient="horz" pos="4008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720">
          <p15:clr>
            <a:srgbClr val="F26B43"/>
          </p15:clr>
        </p15:guide>
        <p15:guide id="7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Writing a B2-Level For and Against Essay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Advanced Structure and Language for IT Topics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For and Against Essay?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objective text presenting both sides of an issue.</a:t>
            </a:r>
          </a:p>
          <a:p>
            <a:r>
              <a:t>Common in academic, technical, and exam writing.</a:t>
            </a:r>
          </a:p>
          <a:p>
            <a:r>
              <a:t>Requires structured argumentation and balanced tone.</a:t>
            </a:r>
          </a:p>
          <a:p>
            <a:r>
              <a:t>Formal style: no contractions or informal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of the Essay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Introduction – Present the topic objectively.</a:t>
            </a:r>
          </a:p>
          <a:p>
            <a:r>
              <a:t>2. Body Paragraph 1 – Arguments in favour (with examples).</a:t>
            </a:r>
          </a:p>
          <a:p>
            <a:r>
              <a:t>3. Body Paragraph 2 – Arguments against (with examples).</a:t>
            </a:r>
          </a:p>
          <a:p>
            <a:r>
              <a:t>4. Conclusion – Summarise both views. Add a balanced opinion.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Connectors and Phrases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begin with, / One significant advantage is that...</a:t>
            </a:r>
          </a:p>
          <a:p>
            <a:r>
              <a:t>Moreover, / In addition to this, / What is more,</a:t>
            </a:r>
          </a:p>
          <a:p>
            <a:r>
              <a:t>However, / On the other hand, / Nevertheless,</a:t>
            </a:r>
          </a:p>
          <a:p>
            <a:r>
              <a:t>For instance, / This can be seen in... / Such as...</a:t>
            </a:r>
          </a:p>
          <a:p>
            <a:r>
              <a:t>In conclusion, / On balance, / All things considered,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Essay: Is Remote Work Effective?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Introduction:</a:t>
            </a:r>
          </a:p>
          <a:p>
            <a:r>
              <a:t>Remote work in the IT sector is becoming widespread. This essay will explore its advantages and disadvantages.</a:t>
            </a:r>
          </a:p>
          <a:p>
            <a:endParaRPr/>
          </a:p>
          <a:p>
            <a:r>
              <a:t>Pros:</a:t>
            </a:r>
          </a:p>
          <a:p>
            <a:r>
              <a:t>One significant advantage is flexibility, allowing developers to work from anywhere. Moreover, avoiding commuting saves time and improves productivity.</a:t>
            </a:r>
          </a:p>
          <a:p>
            <a:endParaRPr/>
          </a:p>
          <a:p>
            <a:r>
              <a:t>Cons:</a:t>
            </a:r>
          </a:p>
          <a:p>
            <a:r>
              <a:t>On the other hand, working remotely can reduce team cohesion. For instance, remote teams may experience delays in communication or difficulty in collaborative tasks.</a:t>
            </a:r>
          </a:p>
          <a:p>
            <a:endParaRPr/>
          </a:p>
          <a:p>
            <a:r>
              <a:t>Conclusion:</a:t>
            </a:r>
          </a:p>
          <a:p>
            <a:r>
              <a:t>In conclusion, while remote work offers many benefits, it also presents notable challenges. On balance, a hybrid approach might be the most effective solution.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Topics to Practise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Should AI tools like ChatGPT be used in software development?</a:t>
            </a:r>
          </a:p>
          <a:p>
            <a:r>
              <a:t>Are cloud services more secure than local servers?</a:t>
            </a:r>
          </a:p>
          <a:p>
            <a:r>
              <a:t>Do progressive web apps replace native applications?</a:t>
            </a:r>
          </a:p>
          <a:p>
            <a:r>
              <a:t>Should coding be mandatory in all school curricula?</a:t>
            </a:r>
          </a:p>
          <a:p>
            <a:r>
              <a:t>Are website builders a threat to professional developers?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Task – Write Your Own Essay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Choose ONE topic from the list.</a:t>
            </a:r>
          </a:p>
          <a:p>
            <a:r>
              <a:t>Write 150–180 words.</a:t>
            </a:r>
          </a:p>
          <a:p>
            <a:r>
              <a:t>Use at least 5 advanced connectors.</a:t>
            </a:r>
          </a:p>
          <a:p>
            <a:r>
              <a:t>Follow the 4-paragraph structure shown.</a:t>
            </a:r>
          </a:p>
          <a:p>
            <a:r>
              <a:t>Avoid informal expressions and contractions.</a:t>
            </a:r>
          </a:p>
          <a:p>
            <a:r>
              <a:t>Check your work using the self-review checklist provided.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tintivo">
  <a:themeElements>
    <a:clrScheme name="Distintivo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Distintiv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stintiv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TM10001106[[fn=Distintivo]]</Template>
  <TotalTime>2</TotalTime>
  <Words>384</Words>
  <Application>Microsoft Office PowerPoint</Application>
  <PresentationFormat>Presentación en pantalla (4:3)</PresentationFormat>
  <Paragraphs>43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Gill Sans MT</vt:lpstr>
      <vt:lpstr>Impact</vt:lpstr>
      <vt:lpstr>Distintivo</vt:lpstr>
      <vt:lpstr>Writing a B2-Level For and Against Essay</vt:lpstr>
      <vt:lpstr>What is a For and Against Essay?</vt:lpstr>
      <vt:lpstr>Structure of the Essay</vt:lpstr>
      <vt:lpstr>Advanced Connectors and Phrases</vt:lpstr>
      <vt:lpstr>Model Essay: Is Remote Work Effective?</vt:lpstr>
      <vt:lpstr>Topics to Practise</vt:lpstr>
      <vt:lpstr>Your Task – Write Your Own Essay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maite</dc:creator>
  <cp:keywords/>
  <dc:description>generated using python-pptx</dc:description>
  <cp:lastModifiedBy>Maite .</cp:lastModifiedBy>
  <cp:revision>2</cp:revision>
  <dcterms:created xsi:type="dcterms:W3CDTF">2013-01-27T09:14:16Z</dcterms:created>
  <dcterms:modified xsi:type="dcterms:W3CDTF">2025-03-21T07:54:11Z</dcterms:modified>
  <cp:category/>
</cp:coreProperties>
</file>